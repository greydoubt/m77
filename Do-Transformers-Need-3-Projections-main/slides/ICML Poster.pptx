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7" r:id="rId2"/>
  </p:sldIdLst>
  <p:sldSz cx="34747200" cy="26517600"/>
  <p:notesSz cx="9296400" cy="147828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352" userDrawn="1">
          <p15:clr>
            <a:srgbClr val="A4A3A4"/>
          </p15:clr>
        </p15:guide>
        <p15:guide id="2" pos="1089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rian Wier" initials="BW" lastIdx="1" clrIdx="0">
    <p:extLst>
      <p:ext uri="{19B8F6BF-5375-455C-9EA6-DF929625EA0E}">
        <p15:presenceInfo xmlns:p15="http://schemas.microsoft.com/office/powerpoint/2012/main" userId="52d2d1ed1368cf9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B8A7"/>
    <a:srgbClr val="00AE00"/>
    <a:srgbClr val="FF5976"/>
    <a:srgbClr val="E90029"/>
    <a:srgbClr val="1E00FE"/>
    <a:srgbClr val="E5E5E5"/>
    <a:srgbClr val="FFD967"/>
    <a:srgbClr val="FF9900"/>
    <a:srgbClr val="8C1515"/>
    <a:srgbClr val="D2C2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054530-D8BF-4E1F-BEEA-0C06095CBF8F}" v="28" dt="2024-07-24T05:58:59.049"/>
  </p1510:revLst>
</p1510:revInfo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19" autoAdjust="0"/>
    <p:restoredTop sz="98564" autoAdjust="0"/>
  </p:normalViewPr>
  <p:slideViewPr>
    <p:cSldViewPr>
      <p:cViewPr>
        <p:scale>
          <a:sx n="25" d="100"/>
          <a:sy n="25" d="100"/>
        </p:scale>
        <p:origin x="1042" y="-14"/>
      </p:cViewPr>
      <p:guideLst>
        <p:guide orient="horz" pos="8352"/>
        <p:guide pos="1089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6BB512E8-33C7-41B9-B3B4-ADFC76B7D32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4028440" cy="739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5944" tIns="67972" rIns="135944" bIns="67972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8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02EEEC2E-85B9-43AA-99DC-7735ABF0687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65810" y="0"/>
            <a:ext cx="4028440" cy="739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5944" tIns="67972" rIns="135944" bIns="67972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8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286E0AE0-C1EA-40E0-ACA4-B7E1B7662CCA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14040630"/>
            <a:ext cx="4028440" cy="739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5944" tIns="67972" rIns="135944" bIns="67972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8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9CF6C839-B5F0-4D31-8DDE-5310E3AB8B32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65810" y="14040630"/>
            <a:ext cx="4028440" cy="739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5944" tIns="67972" rIns="135944" bIns="67972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800" smtClean="0"/>
            </a:lvl1pPr>
          </a:lstStyle>
          <a:p>
            <a:pPr>
              <a:defRPr/>
            </a:pPr>
            <a:fld id="{6AD7EA00-0D26-48BC-AD9F-9F1211C081A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A8EB3334-5850-4667-A975-8196D5D77B3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4028440" cy="739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5944" tIns="67972" rIns="135944" bIns="67972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8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2A40A116-A412-4EE2-88EE-37EE04DE405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265810" y="0"/>
            <a:ext cx="4028440" cy="739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5944" tIns="67972" rIns="135944" bIns="67972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8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2238B6A7-9922-4800-B668-816BB5BE224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16000" y="1106488"/>
            <a:ext cx="7265988" cy="55451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3C50C233-8D16-433E-B841-A729CB7A4C7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9640" y="7022841"/>
            <a:ext cx="7437120" cy="66517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5944" tIns="67972" rIns="135944" bIns="6797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174" name="Rectangle 6">
            <a:extLst>
              <a:ext uri="{FF2B5EF4-FFF2-40B4-BE49-F238E27FC236}">
                <a16:creationId xmlns:a16="http://schemas.microsoft.com/office/drawing/2014/main" id="{5ACEF53D-DDFF-496E-97CD-BBE1E224A9E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14040630"/>
            <a:ext cx="4028440" cy="739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5944" tIns="67972" rIns="135944" bIns="67972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8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5" name="Rectangle 7">
            <a:extLst>
              <a:ext uri="{FF2B5EF4-FFF2-40B4-BE49-F238E27FC236}">
                <a16:creationId xmlns:a16="http://schemas.microsoft.com/office/drawing/2014/main" id="{86690885-3485-43EB-A63D-9C9C99B604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65810" y="14040630"/>
            <a:ext cx="4028440" cy="739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5944" tIns="67972" rIns="135944" bIns="67972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800" smtClean="0"/>
            </a:lvl1pPr>
          </a:lstStyle>
          <a:p>
            <a:pPr>
              <a:defRPr/>
            </a:pPr>
            <a:fld id="{BE38CE75-7ED1-4CBA-B6DC-655C5C87251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6CF90098-B83D-42C4-9315-70A97E9FD0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04547" indent="-424826">
              <a:spcBef>
                <a:spcPct val="30000"/>
              </a:spcBef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699303" indent="-339861">
              <a:spcBef>
                <a:spcPct val="30000"/>
              </a:spcBef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2379024" indent="-339861">
              <a:spcBef>
                <a:spcPct val="30000"/>
              </a:spcBef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3058746" indent="-339861">
              <a:spcBef>
                <a:spcPct val="30000"/>
              </a:spcBef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3738467" indent="-339861" eaLnBrk="0" fontAlgn="base" hangingPunct="0">
              <a:spcBef>
                <a:spcPct val="3000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4418188" indent="-339861" eaLnBrk="0" fontAlgn="base" hangingPunct="0">
              <a:spcBef>
                <a:spcPct val="3000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5097910" indent="-339861" eaLnBrk="0" fontAlgn="base" hangingPunct="0">
              <a:spcBef>
                <a:spcPct val="3000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5777631" indent="-339861" eaLnBrk="0" fontAlgn="base" hangingPunct="0">
              <a:spcBef>
                <a:spcPct val="3000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5DEEAD3-172B-4F78-A330-FC2B2F0D2251}" type="slidenum">
              <a:rPr lang="zh-TW" altLang="en-US"/>
              <a:pPr>
                <a:spcBef>
                  <a:spcPct val="0"/>
                </a:spcBef>
              </a:pPr>
              <a:t>1</a:t>
            </a:fld>
            <a:endParaRPr lang="en-US" altLang="zh-TW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4AA0AA15-970D-4234-995B-2A9023B284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16000" y="1106488"/>
            <a:ext cx="7265988" cy="5545137"/>
          </a:xfrm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0B02A9B0-5C0E-415B-BFCA-89083EDBB3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9865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06040" y="8237838"/>
            <a:ext cx="29535120" cy="568419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12080" y="15026933"/>
            <a:ext cx="24323040" cy="6776145"/>
          </a:xfrm>
        </p:spPr>
        <p:txBody>
          <a:bodyPr/>
          <a:lstStyle>
            <a:lvl1pPr marL="0" indent="0" algn="ctr">
              <a:buNone/>
              <a:defRPr/>
            </a:lvl1pPr>
            <a:lvl2pPr marL="451985" indent="0" algn="ctr">
              <a:buNone/>
              <a:defRPr/>
            </a:lvl2pPr>
            <a:lvl3pPr marL="903970" indent="0" algn="ctr">
              <a:buNone/>
              <a:defRPr/>
            </a:lvl3pPr>
            <a:lvl4pPr marL="1355955" indent="0" algn="ctr">
              <a:buNone/>
              <a:defRPr/>
            </a:lvl4pPr>
            <a:lvl5pPr marL="1807940" indent="0" algn="ctr">
              <a:buNone/>
              <a:defRPr/>
            </a:lvl5pPr>
            <a:lvl6pPr marL="2259925" indent="0" algn="ctr">
              <a:buNone/>
              <a:defRPr/>
            </a:lvl6pPr>
            <a:lvl7pPr marL="2711910" indent="0" algn="ctr">
              <a:buNone/>
              <a:defRPr/>
            </a:lvl7pPr>
            <a:lvl8pPr marL="3163895" indent="0" algn="ctr">
              <a:buNone/>
              <a:defRPr/>
            </a:lvl8pPr>
            <a:lvl9pPr marL="3615881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4AEF639-2BD6-4995-B5A1-F9FF157852E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24F27EA-F8FB-4055-A1C5-5E47E57C221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F6E7E11-B931-4294-8005-BF5EB97900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ADA958-B000-454D-97B1-9904B04E4B9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9095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B94B3B2-3CA6-4AFF-A770-AAB68CE647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7DB1A99-82C2-4BE6-ADC9-2F9F07665F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9B63D55-F0BD-4D52-8BCA-F717210DF9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F4919F-520D-42D1-B54A-182BDF9EAF8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150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4787" y="17039630"/>
            <a:ext cx="29535120" cy="5266978"/>
          </a:xfrm>
        </p:spPr>
        <p:txBody>
          <a:bodyPr anchor="t"/>
          <a:lstStyle>
            <a:lvl1pPr algn="l">
              <a:defRPr sz="3954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4787" y="11238904"/>
            <a:ext cx="29535120" cy="5800726"/>
          </a:xfrm>
        </p:spPr>
        <p:txBody>
          <a:bodyPr anchor="b"/>
          <a:lstStyle>
            <a:lvl1pPr marL="0" indent="0">
              <a:buNone/>
              <a:defRPr sz="1977"/>
            </a:lvl1pPr>
            <a:lvl2pPr marL="451985" indent="0">
              <a:buNone/>
              <a:defRPr sz="1780"/>
            </a:lvl2pPr>
            <a:lvl3pPr marL="903970" indent="0">
              <a:buNone/>
              <a:defRPr sz="1582"/>
            </a:lvl3pPr>
            <a:lvl4pPr marL="1355955" indent="0">
              <a:buNone/>
              <a:defRPr sz="1385"/>
            </a:lvl4pPr>
            <a:lvl5pPr marL="1807940" indent="0">
              <a:buNone/>
              <a:defRPr sz="1385"/>
            </a:lvl5pPr>
            <a:lvl6pPr marL="2259925" indent="0">
              <a:buNone/>
              <a:defRPr sz="1385"/>
            </a:lvl6pPr>
            <a:lvl7pPr marL="2711910" indent="0">
              <a:buNone/>
              <a:defRPr sz="1385"/>
            </a:lvl7pPr>
            <a:lvl8pPr marL="3163895" indent="0">
              <a:buNone/>
              <a:defRPr sz="1385"/>
            </a:lvl8pPr>
            <a:lvl9pPr marL="3615881" indent="0">
              <a:buNone/>
              <a:defRPr sz="138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60F212E-35F2-44AF-B7C8-4277424FC4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4615D2F-CE0D-4192-8A54-0E850975CAF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6755A0D-BD40-445E-9762-5FC823FDBF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B4D074-BD6C-4FCB-8755-CF8DA8B5B8A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4319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7360" y="6187732"/>
            <a:ext cx="15563850" cy="17500005"/>
          </a:xfrm>
        </p:spPr>
        <p:txBody>
          <a:bodyPr/>
          <a:lstStyle>
            <a:lvl1pPr>
              <a:defRPr sz="2768"/>
            </a:lvl1pPr>
            <a:lvl2pPr>
              <a:defRPr sz="2373"/>
            </a:lvl2pPr>
            <a:lvl3pPr>
              <a:defRPr sz="1977"/>
            </a:lvl3pPr>
            <a:lvl4pPr>
              <a:defRPr sz="1780"/>
            </a:lvl4pPr>
            <a:lvl5pPr>
              <a:defRPr sz="1780"/>
            </a:lvl5pPr>
            <a:lvl6pPr>
              <a:defRPr sz="1780"/>
            </a:lvl6pPr>
            <a:lvl7pPr>
              <a:defRPr sz="1780"/>
            </a:lvl7pPr>
            <a:lvl8pPr>
              <a:defRPr sz="1780"/>
            </a:lvl8pPr>
            <a:lvl9pPr>
              <a:defRPr sz="17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445990" y="6187732"/>
            <a:ext cx="15563850" cy="17500005"/>
          </a:xfrm>
        </p:spPr>
        <p:txBody>
          <a:bodyPr/>
          <a:lstStyle>
            <a:lvl1pPr>
              <a:defRPr sz="2768"/>
            </a:lvl1pPr>
            <a:lvl2pPr>
              <a:defRPr sz="2373"/>
            </a:lvl2pPr>
            <a:lvl3pPr>
              <a:defRPr sz="1977"/>
            </a:lvl3pPr>
            <a:lvl4pPr>
              <a:defRPr sz="1780"/>
            </a:lvl4pPr>
            <a:lvl5pPr>
              <a:defRPr sz="1780"/>
            </a:lvl5pPr>
            <a:lvl6pPr>
              <a:defRPr sz="1780"/>
            </a:lvl6pPr>
            <a:lvl7pPr>
              <a:defRPr sz="1780"/>
            </a:lvl7pPr>
            <a:lvl8pPr>
              <a:defRPr sz="1780"/>
            </a:lvl8pPr>
            <a:lvl9pPr>
              <a:defRPr sz="17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BDFD10-05BA-4C33-9ECC-50540DF8FC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6D62BE-8E8F-4C8B-A00E-041D6BAA33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E2F93C-9F20-4056-9C66-57DE672A6E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0A7E0C-9695-4727-B261-44C19F67950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4866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7361" y="5935963"/>
            <a:ext cx="15352713" cy="2473077"/>
          </a:xfrm>
        </p:spPr>
        <p:txBody>
          <a:bodyPr anchor="b"/>
          <a:lstStyle>
            <a:lvl1pPr marL="0" indent="0">
              <a:buNone/>
              <a:defRPr sz="2373" b="1"/>
            </a:lvl1pPr>
            <a:lvl2pPr marL="451985" indent="0">
              <a:buNone/>
              <a:defRPr sz="1977" b="1"/>
            </a:lvl2pPr>
            <a:lvl3pPr marL="903970" indent="0">
              <a:buNone/>
              <a:defRPr sz="1780" b="1"/>
            </a:lvl3pPr>
            <a:lvl4pPr marL="1355955" indent="0">
              <a:buNone/>
              <a:defRPr sz="1582" b="1"/>
            </a:lvl4pPr>
            <a:lvl5pPr marL="1807940" indent="0">
              <a:buNone/>
              <a:defRPr sz="1582" b="1"/>
            </a:lvl5pPr>
            <a:lvl6pPr marL="2259925" indent="0">
              <a:buNone/>
              <a:defRPr sz="1582" b="1"/>
            </a:lvl6pPr>
            <a:lvl7pPr marL="2711910" indent="0">
              <a:buNone/>
              <a:defRPr sz="1582" b="1"/>
            </a:lvl7pPr>
            <a:lvl8pPr marL="3163895" indent="0">
              <a:buNone/>
              <a:defRPr sz="1582" b="1"/>
            </a:lvl8pPr>
            <a:lvl9pPr marL="3615881" indent="0">
              <a:buNone/>
              <a:defRPr sz="158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7361" y="8409038"/>
            <a:ext cx="15352713" cy="15278695"/>
          </a:xfrm>
        </p:spPr>
        <p:txBody>
          <a:bodyPr/>
          <a:lstStyle>
            <a:lvl1pPr>
              <a:defRPr sz="2373"/>
            </a:lvl1pPr>
            <a:lvl2pPr>
              <a:defRPr sz="1977"/>
            </a:lvl2pPr>
            <a:lvl3pPr>
              <a:defRPr sz="1780"/>
            </a:lvl3pPr>
            <a:lvl4pPr>
              <a:defRPr sz="1582"/>
            </a:lvl4pPr>
            <a:lvl5pPr>
              <a:defRPr sz="1582"/>
            </a:lvl5pPr>
            <a:lvl6pPr>
              <a:defRPr sz="1582"/>
            </a:lvl6pPr>
            <a:lvl7pPr>
              <a:defRPr sz="1582"/>
            </a:lvl7pPr>
            <a:lvl8pPr>
              <a:defRPr sz="1582"/>
            </a:lvl8pPr>
            <a:lvl9pPr>
              <a:defRPr sz="158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7651098" y="5935963"/>
            <a:ext cx="15358745" cy="2473077"/>
          </a:xfrm>
        </p:spPr>
        <p:txBody>
          <a:bodyPr anchor="b"/>
          <a:lstStyle>
            <a:lvl1pPr marL="0" indent="0">
              <a:buNone/>
              <a:defRPr sz="2373" b="1"/>
            </a:lvl1pPr>
            <a:lvl2pPr marL="451985" indent="0">
              <a:buNone/>
              <a:defRPr sz="1977" b="1"/>
            </a:lvl2pPr>
            <a:lvl3pPr marL="903970" indent="0">
              <a:buNone/>
              <a:defRPr sz="1780" b="1"/>
            </a:lvl3pPr>
            <a:lvl4pPr marL="1355955" indent="0">
              <a:buNone/>
              <a:defRPr sz="1582" b="1"/>
            </a:lvl4pPr>
            <a:lvl5pPr marL="1807940" indent="0">
              <a:buNone/>
              <a:defRPr sz="1582" b="1"/>
            </a:lvl5pPr>
            <a:lvl6pPr marL="2259925" indent="0">
              <a:buNone/>
              <a:defRPr sz="1582" b="1"/>
            </a:lvl6pPr>
            <a:lvl7pPr marL="2711910" indent="0">
              <a:buNone/>
              <a:defRPr sz="1582" b="1"/>
            </a:lvl7pPr>
            <a:lvl8pPr marL="3163895" indent="0">
              <a:buNone/>
              <a:defRPr sz="1582" b="1"/>
            </a:lvl8pPr>
            <a:lvl9pPr marL="3615881" indent="0">
              <a:buNone/>
              <a:defRPr sz="158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7651098" y="8409038"/>
            <a:ext cx="15358745" cy="15278695"/>
          </a:xfrm>
        </p:spPr>
        <p:txBody>
          <a:bodyPr/>
          <a:lstStyle>
            <a:lvl1pPr>
              <a:defRPr sz="2373"/>
            </a:lvl1pPr>
            <a:lvl2pPr>
              <a:defRPr sz="1977"/>
            </a:lvl2pPr>
            <a:lvl3pPr>
              <a:defRPr sz="1780"/>
            </a:lvl3pPr>
            <a:lvl4pPr>
              <a:defRPr sz="1582"/>
            </a:lvl4pPr>
            <a:lvl5pPr>
              <a:defRPr sz="1582"/>
            </a:lvl5pPr>
            <a:lvl6pPr>
              <a:defRPr sz="1582"/>
            </a:lvl6pPr>
            <a:lvl7pPr>
              <a:defRPr sz="1582"/>
            </a:lvl7pPr>
            <a:lvl8pPr>
              <a:defRPr sz="1582"/>
            </a:lvl8pPr>
            <a:lvl9pPr>
              <a:defRPr sz="158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8E6138F-C4E6-4130-9A54-9E7BA49F935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5A5C2B5-1D9C-4E6E-992D-BDB72A21E0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372A7D5-D280-4084-9AE5-BFCA6E13BD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12F2E3-EA44-4857-9B7E-E546058951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9646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5116512-5E0F-4AE5-A697-5A9154FF2D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165B534-A9B1-4654-8FEC-650898B0EC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D74C55E-3950-4877-9F30-8AB8C7353E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996290-3CF5-420E-A604-4C471189F9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3670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218EE7D-8C34-42C5-B463-5BE4238E64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AF51672-BE57-4140-9F7B-74E64C1A4C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7C52DCD-0331-42F1-990E-E2E63C81A4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EF0BBF-00C2-48BC-8AA7-1A438184D62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8787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7363" y="1055990"/>
            <a:ext cx="11431587" cy="4492973"/>
          </a:xfrm>
        </p:spPr>
        <p:txBody>
          <a:bodyPr anchor="b"/>
          <a:lstStyle>
            <a:lvl1pPr algn="l">
              <a:defRPr sz="197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585190" y="1055991"/>
            <a:ext cx="19424650" cy="22631748"/>
          </a:xfrm>
        </p:spPr>
        <p:txBody>
          <a:bodyPr/>
          <a:lstStyle>
            <a:lvl1pPr>
              <a:defRPr sz="3164"/>
            </a:lvl1pPr>
            <a:lvl2pPr>
              <a:defRPr sz="2768"/>
            </a:lvl2pPr>
            <a:lvl3pPr>
              <a:defRPr sz="2373"/>
            </a:lvl3pPr>
            <a:lvl4pPr>
              <a:defRPr sz="1977"/>
            </a:lvl4pPr>
            <a:lvl5pPr>
              <a:defRPr sz="1977"/>
            </a:lvl5pPr>
            <a:lvl6pPr>
              <a:defRPr sz="1977"/>
            </a:lvl6pPr>
            <a:lvl7pPr>
              <a:defRPr sz="1977"/>
            </a:lvl7pPr>
            <a:lvl8pPr>
              <a:defRPr sz="1977"/>
            </a:lvl8pPr>
            <a:lvl9pPr>
              <a:defRPr sz="197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7363" y="5548958"/>
            <a:ext cx="11431587" cy="18138776"/>
          </a:xfrm>
        </p:spPr>
        <p:txBody>
          <a:bodyPr/>
          <a:lstStyle>
            <a:lvl1pPr marL="0" indent="0">
              <a:buNone/>
              <a:defRPr sz="1385"/>
            </a:lvl1pPr>
            <a:lvl2pPr marL="451985" indent="0">
              <a:buNone/>
              <a:defRPr sz="1186"/>
            </a:lvl2pPr>
            <a:lvl3pPr marL="903970" indent="0">
              <a:buNone/>
              <a:defRPr sz="989"/>
            </a:lvl3pPr>
            <a:lvl4pPr marL="1355955" indent="0">
              <a:buNone/>
              <a:defRPr sz="890"/>
            </a:lvl4pPr>
            <a:lvl5pPr marL="1807940" indent="0">
              <a:buNone/>
              <a:defRPr sz="890"/>
            </a:lvl5pPr>
            <a:lvl6pPr marL="2259925" indent="0">
              <a:buNone/>
              <a:defRPr sz="890"/>
            </a:lvl6pPr>
            <a:lvl7pPr marL="2711910" indent="0">
              <a:buNone/>
              <a:defRPr sz="890"/>
            </a:lvl7pPr>
            <a:lvl8pPr marL="3163895" indent="0">
              <a:buNone/>
              <a:defRPr sz="890"/>
            </a:lvl8pPr>
            <a:lvl9pPr marL="3615881" indent="0">
              <a:buNone/>
              <a:defRPr sz="89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D35BE9-9629-4595-AC0B-428F0D8C6C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97A5E1-40CB-4E02-BCD7-A3BF0EC0DC8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61D49F-DE6D-474E-9D91-C161C1A910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BBA673-A62F-4D40-95D8-0C2AF35A3C1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541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693" y="18561749"/>
            <a:ext cx="20848320" cy="2192536"/>
          </a:xfrm>
        </p:spPr>
        <p:txBody>
          <a:bodyPr anchor="b"/>
          <a:lstStyle>
            <a:lvl1pPr algn="l">
              <a:defRPr sz="197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10693" y="2369495"/>
            <a:ext cx="20848320" cy="15910272"/>
          </a:xfrm>
        </p:spPr>
        <p:txBody>
          <a:bodyPr/>
          <a:lstStyle>
            <a:lvl1pPr marL="0" indent="0">
              <a:buNone/>
              <a:defRPr sz="3164"/>
            </a:lvl1pPr>
            <a:lvl2pPr marL="451985" indent="0">
              <a:buNone/>
              <a:defRPr sz="2768"/>
            </a:lvl2pPr>
            <a:lvl3pPr marL="903970" indent="0">
              <a:buNone/>
              <a:defRPr sz="2373"/>
            </a:lvl3pPr>
            <a:lvl4pPr marL="1355955" indent="0">
              <a:buNone/>
              <a:defRPr sz="1977"/>
            </a:lvl4pPr>
            <a:lvl5pPr marL="1807940" indent="0">
              <a:buNone/>
              <a:defRPr sz="1977"/>
            </a:lvl5pPr>
            <a:lvl6pPr marL="2259925" indent="0">
              <a:buNone/>
              <a:defRPr sz="1977"/>
            </a:lvl6pPr>
            <a:lvl7pPr marL="2711910" indent="0">
              <a:buNone/>
              <a:defRPr sz="1977"/>
            </a:lvl7pPr>
            <a:lvl8pPr marL="3163895" indent="0">
              <a:buNone/>
              <a:defRPr sz="1977"/>
            </a:lvl8pPr>
            <a:lvl9pPr marL="3615881" indent="0">
              <a:buNone/>
              <a:defRPr sz="1977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10693" y="20754285"/>
            <a:ext cx="20848320" cy="3111848"/>
          </a:xfrm>
        </p:spPr>
        <p:txBody>
          <a:bodyPr/>
          <a:lstStyle>
            <a:lvl1pPr marL="0" indent="0">
              <a:buNone/>
              <a:defRPr sz="1385"/>
            </a:lvl1pPr>
            <a:lvl2pPr marL="451985" indent="0">
              <a:buNone/>
              <a:defRPr sz="1186"/>
            </a:lvl2pPr>
            <a:lvl3pPr marL="903970" indent="0">
              <a:buNone/>
              <a:defRPr sz="989"/>
            </a:lvl3pPr>
            <a:lvl4pPr marL="1355955" indent="0">
              <a:buNone/>
              <a:defRPr sz="890"/>
            </a:lvl4pPr>
            <a:lvl5pPr marL="1807940" indent="0">
              <a:buNone/>
              <a:defRPr sz="890"/>
            </a:lvl5pPr>
            <a:lvl6pPr marL="2259925" indent="0">
              <a:buNone/>
              <a:defRPr sz="890"/>
            </a:lvl6pPr>
            <a:lvl7pPr marL="2711910" indent="0">
              <a:buNone/>
              <a:defRPr sz="890"/>
            </a:lvl7pPr>
            <a:lvl8pPr marL="3163895" indent="0">
              <a:buNone/>
              <a:defRPr sz="890"/>
            </a:lvl8pPr>
            <a:lvl9pPr marL="3615881" indent="0">
              <a:buNone/>
              <a:defRPr sz="89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BCCF86-91BF-49FF-8257-31313599FE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30FD3F-0478-49DF-915E-344D097698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2C3206-9C6B-4E30-964B-5AB77F415A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BF07C5-0041-4638-BBFF-E51DD47C2A4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2938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DBCBC55-34E4-4BD2-BCE5-7A940B12AB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B3E592E-F3C6-417D-B9EC-B65B46535E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F4572D7-5BC8-4AF4-974D-6FFF6B9E7E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46169-2EE6-422F-A2A1-9EE81C7551E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4526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191720" y="1061741"/>
            <a:ext cx="7818120" cy="2262599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7360" y="1061741"/>
            <a:ext cx="23309580" cy="226259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6443FE7-3F35-4C13-B506-81B416613AD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3241748-2EF6-4A9C-A6FE-259FB319B2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ACBA05E-246C-4583-8ABB-7E2001ACB4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3F7E81-466F-4BF5-B1BC-FE4083B76E8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73911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7360" y="1061740"/>
            <a:ext cx="31272480" cy="441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7360" y="6187732"/>
            <a:ext cx="15563850" cy="17500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17445990" y="6187733"/>
            <a:ext cx="15563850" cy="86809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17445990" y="15006793"/>
            <a:ext cx="15563850" cy="86809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DE3B251-6E55-44D8-8EC1-DEC6627D74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820A217-EFA7-4888-8BD3-026048ED06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A4651404-2722-47E5-9BC8-232DBB1061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3C6F4A-E2AE-4B45-9DFD-F7EAC6A1B59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4489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B750511-74B8-49BE-8A71-E422CD30BC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737360" y="1061933"/>
            <a:ext cx="3127248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76202" tIns="188101" rIns="376202" bIns="18810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B375E51-12AA-409B-A8F2-B4856EC020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737360" y="6187440"/>
            <a:ext cx="31272480" cy="175003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76202" tIns="188101" rIns="376202" bIns="18810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C947BBA-3847-41D5-8071-A447BD73EB9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737360" y="24148203"/>
            <a:ext cx="8107680" cy="184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76202" tIns="188101" rIns="376202" bIns="188101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5734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38569FC-D5A3-4A69-A135-FC75E8DAF0E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1871960" y="24148203"/>
            <a:ext cx="11003280" cy="184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76202" tIns="188101" rIns="376202" bIns="188101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5734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3954C05-1D84-439B-8FC0-B789BE6D979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4902160" y="24148203"/>
            <a:ext cx="8107680" cy="184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76202" tIns="188101" rIns="376202" bIns="188101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5734" smtClean="0"/>
            </a:lvl1pPr>
          </a:lstStyle>
          <a:p>
            <a:pPr>
              <a:defRPr/>
            </a:pPr>
            <a:fld id="{088373B0-9941-41A1-B17A-68CCE9055B8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3717996" rtl="0" eaLnBrk="0" fontAlgn="base" hangingPunct="0">
        <a:spcBef>
          <a:spcPct val="0"/>
        </a:spcBef>
        <a:spcAft>
          <a:spcPct val="0"/>
        </a:spcAft>
        <a:defRPr sz="17821">
          <a:solidFill>
            <a:schemeClr val="tx2"/>
          </a:solidFill>
          <a:latin typeface="+mj-lt"/>
          <a:ea typeface="+mj-ea"/>
          <a:cs typeface="+mj-cs"/>
        </a:defRPr>
      </a:lvl1pPr>
      <a:lvl2pPr algn="ctr" defTabSz="3717996" rtl="0" eaLnBrk="0" fontAlgn="base" hangingPunct="0">
        <a:spcBef>
          <a:spcPct val="0"/>
        </a:spcBef>
        <a:spcAft>
          <a:spcPct val="0"/>
        </a:spcAft>
        <a:defRPr sz="17821">
          <a:solidFill>
            <a:schemeClr val="tx2"/>
          </a:solidFill>
          <a:latin typeface="Arial" charset="0"/>
        </a:defRPr>
      </a:lvl2pPr>
      <a:lvl3pPr algn="ctr" defTabSz="3717996" rtl="0" eaLnBrk="0" fontAlgn="base" hangingPunct="0">
        <a:spcBef>
          <a:spcPct val="0"/>
        </a:spcBef>
        <a:spcAft>
          <a:spcPct val="0"/>
        </a:spcAft>
        <a:defRPr sz="17821">
          <a:solidFill>
            <a:schemeClr val="tx2"/>
          </a:solidFill>
          <a:latin typeface="Arial" charset="0"/>
        </a:defRPr>
      </a:lvl3pPr>
      <a:lvl4pPr algn="ctr" defTabSz="3717996" rtl="0" eaLnBrk="0" fontAlgn="base" hangingPunct="0">
        <a:spcBef>
          <a:spcPct val="0"/>
        </a:spcBef>
        <a:spcAft>
          <a:spcPct val="0"/>
        </a:spcAft>
        <a:defRPr sz="17821">
          <a:solidFill>
            <a:schemeClr val="tx2"/>
          </a:solidFill>
          <a:latin typeface="Arial" charset="0"/>
        </a:defRPr>
      </a:lvl4pPr>
      <a:lvl5pPr algn="ctr" defTabSz="3717996" rtl="0" eaLnBrk="0" fontAlgn="base" hangingPunct="0">
        <a:spcBef>
          <a:spcPct val="0"/>
        </a:spcBef>
        <a:spcAft>
          <a:spcPct val="0"/>
        </a:spcAft>
        <a:defRPr sz="17821">
          <a:solidFill>
            <a:schemeClr val="tx2"/>
          </a:solidFill>
          <a:latin typeface="Arial" charset="0"/>
        </a:defRPr>
      </a:lvl5pPr>
      <a:lvl6pPr marL="451985" algn="ctr" defTabSz="3719461" rtl="0" fontAlgn="base">
        <a:spcBef>
          <a:spcPct val="0"/>
        </a:spcBef>
        <a:spcAft>
          <a:spcPct val="0"/>
        </a:spcAft>
        <a:defRPr sz="17894">
          <a:solidFill>
            <a:schemeClr val="tx2"/>
          </a:solidFill>
          <a:latin typeface="Arial" charset="0"/>
        </a:defRPr>
      </a:lvl6pPr>
      <a:lvl7pPr marL="903970" algn="ctr" defTabSz="3719461" rtl="0" fontAlgn="base">
        <a:spcBef>
          <a:spcPct val="0"/>
        </a:spcBef>
        <a:spcAft>
          <a:spcPct val="0"/>
        </a:spcAft>
        <a:defRPr sz="17894">
          <a:solidFill>
            <a:schemeClr val="tx2"/>
          </a:solidFill>
          <a:latin typeface="Arial" charset="0"/>
        </a:defRPr>
      </a:lvl7pPr>
      <a:lvl8pPr marL="1355955" algn="ctr" defTabSz="3719461" rtl="0" fontAlgn="base">
        <a:spcBef>
          <a:spcPct val="0"/>
        </a:spcBef>
        <a:spcAft>
          <a:spcPct val="0"/>
        </a:spcAft>
        <a:defRPr sz="17894">
          <a:solidFill>
            <a:schemeClr val="tx2"/>
          </a:solidFill>
          <a:latin typeface="Arial" charset="0"/>
        </a:defRPr>
      </a:lvl8pPr>
      <a:lvl9pPr marL="1807940" algn="ctr" defTabSz="3719461" rtl="0" fontAlgn="base">
        <a:spcBef>
          <a:spcPct val="0"/>
        </a:spcBef>
        <a:spcAft>
          <a:spcPct val="0"/>
        </a:spcAft>
        <a:defRPr sz="17894">
          <a:solidFill>
            <a:schemeClr val="tx2"/>
          </a:solidFill>
          <a:latin typeface="Arial" charset="0"/>
        </a:defRPr>
      </a:lvl9pPr>
    </p:titleStyle>
    <p:bodyStyle>
      <a:lvl1pPr marL="1394458" indent="-1394458" algn="l" defTabSz="3717996" rtl="0" eaLnBrk="0" fontAlgn="base" hangingPunct="0">
        <a:spcBef>
          <a:spcPct val="20000"/>
        </a:spcBef>
        <a:spcAft>
          <a:spcPct val="0"/>
        </a:spcAft>
        <a:buChar char="•"/>
        <a:defRPr sz="12970">
          <a:solidFill>
            <a:schemeClr val="tx1"/>
          </a:solidFill>
          <a:latin typeface="+mn-lt"/>
          <a:ea typeface="+mn-ea"/>
          <a:cs typeface="+mn-cs"/>
        </a:defRPr>
      </a:lvl1pPr>
      <a:lvl2pPr marL="3019930" indent="-1160096" algn="l" defTabSz="3717996" rtl="0" eaLnBrk="0" fontAlgn="base" hangingPunct="0">
        <a:spcBef>
          <a:spcPct val="20000"/>
        </a:spcBef>
        <a:spcAft>
          <a:spcPct val="0"/>
        </a:spcAft>
        <a:buChar char="–"/>
        <a:defRPr sz="11283">
          <a:solidFill>
            <a:schemeClr val="tx1"/>
          </a:solidFill>
          <a:latin typeface="+mn-lt"/>
        </a:defRPr>
      </a:lvl2pPr>
      <a:lvl3pPr marL="4647076" indent="-929081" algn="l" defTabSz="3717996" rtl="0" eaLnBrk="0" fontAlgn="base" hangingPunct="0">
        <a:spcBef>
          <a:spcPct val="20000"/>
        </a:spcBef>
        <a:spcAft>
          <a:spcPct val="0"/>
        </a:spcAft>
        <a:buChar char="•"/>
        <a:defRPr sz="9701">
          <a:solidFill>
            <a:schemeClr val="tx1"/>
          </a:solidFill>
          <a:latin typeface="+mn-lt"/>
        </a:defRPr>
      </a:lvl3pPr>
      <a:lvl4pPr marL="6506911" indent="-929081" algn="l" defTabSz="3717996" rtl="0" eaLnBrk="0" fontAlgn="base" hangingPunct="0">
        <a:spcBef>
          <a:spcPct val="20000"/>
        </a:spcBef>
        <a:spcAft>
          <a:spcPct val="0"/>
        </a:spcAft>
        <a:buChar char="–"/>
        <a:defRPr sz="8014">
          <a:solidFill>
            <a:schemeClr val="tx1"/>
          </a:solidFill>
          <a:latin typeface="+mn-lt"/>
        </a:defRPr>
      </a:lvl4pPr>
      <a:lvl5pPr marL="8366746" indent="-929081" algn="l" defTabSz="3717996" rtl="0" eaLnBrk="0" fontAlgn="base" hangingPunct="0">
        <a:spcBef>
          <a:spcPct val="20000"/>
        </a:spcBef>
        <a:spcAft>
          <a:spcPct val="0"/>
        </a:spcAft>
        <a:buChar char="»"/>
        <a:defRPr sz="8014">
          <a:solidFill>
            <a:schemeClr val="tx1"/>
          </a:solidFill>
          <a:latin typeface="+mn-lt"/>
        </a:defRPr>
      </a:lvl5pPr>
      <a:lvl6pPr marL="8819987" indent="-929081" algn="l" defTabSz="3719461" rtl="0" fontAlgn="base">
        <a:spcBef>
          <a:spcPct val="20000"/>
        </a:spcBef>
        <a:spcAft>
          <a:spcPct val="0"/>
        </a:spcAft>
        <a:buChar char="»"/>
        <a:defRPr sz="8107">
          <a:solidFill>
            <a:schemeClr val="tx1"/>
          </a:solidFill>
          <a:latin typeface="+mn-lt"/>
        </a:defRPr>
      </a:lvl6pPr>
      <a:lvl7pPr marL="9271972" indent="-929081" algn="l" defTabSz="3719461" rtl="0" fontAlgn="base">
        <a:spcBef>
          <a:spcPct val="20000"/>
        </a:spcBef>
        <a:spcAft>
          <a:spcPct val="0"/>
        </a:spcAft>
        <a:buChar char="»"/>
        <a:defRPr sz="8107">
          <a:solidFill>
            <a:schemeClr val="tx1"/>
          </a:solidFill>
          <a:latin typeface="+mn-lt"/>
        </a:defRPr>
      </a:lvl7pPr>
      <a:lvl8pPr marL="9723957" indent="-929081" algn="l" defTabSz="3719461" rtl="0" fontAlgn="base">
        <a:spcBef>
          <a:spcPct val="20000"/>
        </a:spcBef>
        <a:spcAft>
          <a:spcPct val="0"/>
        </a:spcAft>
        <a:buChar char="»"/>
        <a:defRPr sz="8107">
          <a:solidFill>
            <a:schemeClr val="tx1"/>
          </a:solidFill>
          <a:latin typeface="+mn-lt"/>
        </a:defRPr>
      </a:lvl8pPr>
      <a:lvl9pPr marL="10175942" indent="-929081" algn="l" defTabSz="3719461" rtl="0" fontAlgn="base">
        <a:spcBef>
          <a:spcPct val="20000"/>
        </a:spcBef>
        <a:spcAft>
          <a:spcPct val="0"/>
        </a:spcAft>
        <a:buChar char="»"/>
        <a:defRPr sz="8107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03970" rtl="0" eaLnBrk="1" latinLnBrk="0" hangingPunct="1">
        <a:defRPr sz="1780" kern="1200">
          <a:solidFill>
            <a:schemeClr val="tx1"/>
          </a:solidFill>
          <a:latin typeface="+mn-lt"/>
          <a:ea typeface="+mn-ea"/>
          <a:cs typeface="+mn-cs"/>
        </a:defRPr>
      </a:lvl1pPr>
      <a:lvl2pPr marL="451985" algn="l" defTabSz="903970" rtl="0" eaLnBrk="1" latinLnBrk="0" hangingPunct="1">
        <a:defRPr sz="1780" kern="1200">
          <a:solidFill>
            <a:schemeClr val="tx1"/>
          </a:solidFill>
          <a:latin typeface="+mn-lt"/>
          <a:ea typeface="+mn-ea"/>
          <a:cs typeface="+mn-cs"/>
        </a:defRPr>
      </a:lvl2pPr>
      <a:lvl3pPr marL="903970" algn="l" defTabSz="903970" rtl="0" eaLnBrk="1" latinLnBrk="0" hangingPunct="1">
        <a:defRPr sz="1780" kern="1200">
          <a:solidFill>
            <a:schemeClr val="tx1"/>
          </a:solidFill>
          <a:latin typeface="+mn-lt"/>
          <a:ea typeface="+mn-ea"/>
          <a:cs typeface="+mn-cs"/>
        </a:defRPr>
      </a:lvl3pPr>
      <a:lvl4pPr marL="1355955" algn="l" defTabSz="903970" rtl="0" eaLnBrk="1" latinLnBrk="0" hangingPunct="1">
        <a:defRPr sz="1780" kern="1200">
          <a:solidFill>
            <a:schemeClr val="tx1"/>
          </a:solidFill>
          <a:latin typeface="+mn-lt"/>
          <a:ea typeface="+mn-ea"/>
          <a:cs typeface="+mn-cs"/>
        </a:defRPr>
      </a:lvl4pPr>
      <a:lvl5pPr marL="1807940" algn="l" defTabSz="903970" rtl="0" eaLnBrk="1" latinLnBrk="0" hangingPunct="1">
        <a:defRPr sz="1780" kern="1200">
          <a:solidFill>
            <a:schemeClr val="tx1"/>
          </a:solidFill>
          <a:latin typeface="+mn-lt"/>
          <a:ea typeface="+mn-ea"/>
          <a:cs typeface="+mn-cs"/>
        </a:defRPr>
      </a:lvl5pPr>
      <a:lvl6pPr marL="2259925" algn="l" defTabSz="903970" rtl="0" eaLnBrk="1" latinLnBrk="0" hangingPunct="1">
        <a:defRPr sz="1780" kern="1200">
          <a:solidFill>
            <a:schemeClr val="tx1"/>
          </a:solidFill>
          <a:latin typeface="+mn-lt"/>
          <a:ea typeface="+mn-ea"/>
          <a:cs typeface="+mn-cs"/>
        </a:defRPr>
      </a:lvl6pPr>
      <a:lvl7pPr marL="2711910" algn="l" defTabSz="903970" rtl="0" eaLnBrk="1" latinLnBrk="0" hangingPunct="1">
        <a:defRPr sz="1780" kern="1200">
          <a:solidFill>
            <a:schemeClr val="tx1"/>
          </a:solidFill>
          <a:latin typeface="+mn-lt"/>
          <a:ea typeface="+mn-ea"/>
          <a:cs typeface="+mn-cs"/>
        </a:defRPr>
      </a:lvl7pPr>
      <a:lvl8pPr marL="3163895" algn="l" defTabSz="903970" rtl="0" eaLnBrk="1" latinLnBrk="0" hangingPunct="1">
        <a:defRPr sz="1780" kern="1200">
          <a:solidFill>
            <a:schemeClr val="tx1"/>
          </a:solidFill>
          <a:latin typeface="+mn-lt"/>
          <a:ea typeface="+mn-ea"/>
          <a:cs typeface="+mn-cs"/>
        </a:defRPr>
      </a:lvl8pPr>
      <a:lvl9pPr marL="3615881" algn="l" defTabSz="903970" rtl="0" eaLnBrk="1" latinLnBrk="0" hangingPunct="1">
        <a:defRPr sz="17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jp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C4111D-7D40-4383-B0EC-69DA4E51839D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2475067" y="373666"/>
            <a:ext cx="32115260" cy="2399106"/>
          </a:xfrm>
          <a:prstGeom prst="rect">
            <a:avLst/>
          </a:prstGeom>
          <a:noFill/>
          <a:ln>
            <a:noFill/>
          </a:ln>
        </p:spPr>
        <p:txBody>
          <a:bodyPr lIns="371927" tIns="185964" rIns="371927" bIns="185964" anchor="ctr"/>
          <a:lstStyle>
            <a:lvl1pPr algn="ctr" defTabSz="3762375" rtl="0" eaLnBrk="0" fontAlgn="base" hangingPunct="0">
              <a:spcBef>
                <a:spcPct val="0"/>
              </a:spcBef>
              <a:spcAft>
                <a:spcPct val="0"/>
              </a:spcAft>
              <a:defRPr sz="181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3762375" rtl="0" eaLnBrk="0" fontAlgn="base" hangingPunct="0">
              <a:spcBef>
                <a:spcPct val="0"/>
              </a:spcBef>
              <a:spcAft>
                <a:spcPct val="0"/>
              </a:spcAft>
              <a:defRPr sz="18100">
                <a:solidFill>
                  <a:schemeClr val="tx2"/>
                </a:solidFill>
                <a:latin typeface="Arial" charset="0"/>
              </a:defRPr>
            </a:lvl2pPr>
            <a:lvl3pPr algn="ctr" defTabSz="3762375" rtl="0" eaLnBrk="0" fontAlgn="base" hangingPunct="0">
              <a:spcBef>
                <a:spcPct val="0"/>
              </a:spcBef>
              <a:spcAft>
                <a:spcPct val="0"/>
              </a:spcAft>
              <a:defRPr sz="18100">
                <a:solidFill>
                  <a:schemeClr val="tx2"/>
                </a:solidFill>
                <a:latin typeface="Arial" charset="0"/>
              </a:defRPr>
            </a:lvl3pPr>
            <a:lvl4pPr algn="ctr" defTabSz="3762375" rtl="0" eaLnBrk="0" fontAlgn="base" hangingPunct="0">
              <a:spcBef>
                <a:spcPct val="0"/>
              </a:spcBef>
              <a:spcAft>
                <a:spcPct val="0"/>
              </a:spcAft>
              <a:defRPr sz="18100">
                <a:solidFill>
                  <a:schemeClr val="tx2"/>
                </a:solidFill>
                <a:latin typeface="Arial" charset="0"/>
              </a:defRPr>
            </a:lvl4pPr>
            <a:lvl5pPr algn="ctr" defTabSz="3762375" rtl="0" eaLnBrk="0" fontAlgn="base" hangingPunct="0">
              <a:spcBef>
                <a:spcPct val="0"/>
              </a:spcBef>
              <a:spcAft>
                <a:spcPct val="0"/>
              </a:spcAft>
              <a:defRPr sz="18100">
                <a:solidFill>
                  <a:schemeClr val="tx2"/>
                </a:solidFill>
                <a:latin typeface="Arial" charset="0"/>
              </a:defRPr>
            </a:lvl5pPr>
            <a:lvl6pPr marL="457200" algn="ctr" defTabSz="3762375" rtl="0" fontAlgn="base">
              <a:spcBef>
                <a:spcPct val="0"/>
              </a:spcBef>
              <a:spcAft>
                <a:spcPct val="0"/>
              </a:spcAft>
              <a:defRPr sz="18100">
                <a:solidFill>
                  <a:schemeClr val="tx2"/>
                </a:solidFill>
                <a:latin typeface="Arial" charset="0"/>
              </a:defRPr>
            </a:lvl6pPr>
            <a:lvl7pPr marL="914400" algn="ctr" defTabSz="3762375" rtl="0" fontAlgn="base">
              <a:spcBef>
                <a:spcPct val="0"/>
              </a:spcBef>
              <a:spcAft>
                <a:spcPct val="0"/>
              </a:spcAft>
              <a:defRPr sz="18100">
                <a:solidFill>
                  <a:schemeClr val="tx2"/>
                </a:solidFill>
                <a:latin typeface="Arial" charset="0"/>
              </a:defRPr>
            </a:lvl7pPr>
            <a:lvl8pPr marL="1371600" algn="ctr" defTabSz="3762375" rtl="0" fontAlgn="base">
              <a:spcBef>
                <a:spcPct val="0"/>
              </a:spcBef>
              <a:spcAft>
                <a:spcPct val="0"/>
              </a:spcAft>
              <a:defRPr sz="18100">
                <a:solidFill>
                  <a:schemeClr val="tx2"/>
                </a:solidFill>
                <a:latin typeface="Arial" charset="0"/>
              </a:defRPr>
            </a:lvl8pPr>
            <a:lvl9pPr marL="1828800" algn="ctr" defTabSz="3762375" rtl="0" fontAlgn="base">
              <a:spcBef>
                <a:spcPct val="0"/>
              </a:spcBef>
              <a:spcAft>
                <a:spcPct val="0"/>
              </a:spcAft>
              <a:defRPr sz="181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8120"/>
              </a:lnSpc>
              <a:spcBef>
                <a:spcPts val="633"/>
              </a:spcBef>
              <a:spcAft>
                <a:spcPts val="633"/>
              </a:spcAft>
              <a:defRPr/>
            </a:pPr>
            <a:r>
              <a:rPr lang="en-US" altLang="zh-TW" sz="4800" b="1" dirty="0">
                <a:solidFill>
                  <a:schemeClr val="tx1"/>
                </a:solidFill>
                <a:latin typeface="+mn-lt"/>
                <a:ea typeface="+mn-ea"/>
                <a:cs typeface="Calibri"/>
              </a:rPr>
              <a:t>Do Transformers Need Three Projections: A Systematic Study of QKV Projection-Sharing Variants</a:t>
            </a:r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4D5D867B-B040-47EF-BBBF-0C7F93A8E35F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-5982648" y="1588099"/>
            <a:ext cx="44647718" cy="2138004"/>
          </a:xfrm>
          <a:prstGeom prst="rect">
            <a:avLst/>
          </a:prstGeom>
          <a:noFill/>
          <a:ln>
            <a:noFill/>
          </a:ln>
        </p:spPr>
        <p:txBody>
          <a:bodyPr lIns="371927" tIns="185964" rIns="371927" bIns="185964" anchor="ctr"/>
          <a:lstStyle>
            <a:lvl1pPr algn="ctr" defTabSz="3762375" rtl="0" eaLnBrk="0" fontAlgn="base" hangingPunct="0">
              <a:spcBef>
                <a:spcPct val="0"/>
              </a:spcBef>
              <a:spcAft>
                <a:spcPct val="0"/>
              </a:spcAft>
              <a:defRPr sz="181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3762375" rtl="0" eaLnBrk="0" fontAlgn="base" hangingPunct="0">
              <a:spcBef>
                <a:spcPct val="0"/>
              </a:spcBef>
              <a:spcAft>
                <a:spcPct val="0"/>
              </a:spcAft>
              <a:defRPr sz="18100">
                <a:solidFill>
                  <a:schemeClr val="tx2"/>
                </a:solidFill>
                <a:latin typeface="Arial" charset="0"/>
              </a:defRPr>
            </a:lvl2pPr>
            <a:lvl3pPr algn="ctr" defTabSz="3762375" rtl="0" eaLnBrk="0" fontAlgn="base" hangingPunct="0">
              <a:spcBef>
                <a:spcPct val="0"/>
              </a:spcBef>
              <a:spcAft>
                <a:spcPct val="0"/>
              </a:spcAft>
              <a:defRPr sz="18100">
                <a:solidFill>
                  <a:schemeClr val="tx2"/>
                </a:solidFill>
                <a:latin typeface="Arial" charset="0"/>
              </a:defRPr>
            </a:lvl3pPr>
            <a:lvl4pPr algn="ctr" defTabSz="3762375" rtl="0" eaLnBrk="0" fontAlgn="base" hangingPunct="0">
              <a:spcBef>
                <a:spcPct val="0"/>
              </a:spcBef>
              <a:spcAft>
                <a:spcPct val="0"/>
              </a:spcAft>
              <a:defRPr sz="18100">
                <a:solidFill>
                  <a:schemeClr val="tx2"/>
                </a:solidFill>
                <a:latin typeface="Arial" charset="0"/>
              </a:defRPr>
            </a:lvl4pPr>
            <a:lvl5pPr algn="ctr" defTabSz="3762375" rtl="0" eaLnBrk="0" fontAlgn="base" hangingPunct="0">
              <a:spcBef>
                <a:spcPct val="0"/>
              </a:spcBef>
              <a:spcAft>
                <a:spcPct val="0"/>
              </a:spcAft>
              <a:defRPr sz="18100">
                <a:solidFill>
                  <a:schemeClr val="tx2"/>
                </a:solidFill>
                <a:latin typeface="Arial" charset="0"/>
              </a:defRPr>
            </a:lvl5pPr>
            <a:lvl6pPr marL="457200" algn="ctr" defTabSz="3762375" rtl="0" fontAlgn="base">
              <a:spcBef>
                <a:spcPct val="0"/>
              </a:spcBef>
              <a:spcAft>
                <a:spcPct val="0"/>
              </a:spcAft>
              <a:defRPr sz="18100">
                <a:solidFill>
                  <a:schemeClr val="tx2"/>
                </a:solidFill>
                <a:latin typeface="Arial" charset="0"/>
              </a:defRPr>
            </a:lvl6pPr>
            <a:lvl7pPr marL="914400" algn="ctr" defTabSz="3762375" rtl="0" fontAlgn="base">
              <a:spcBef>
                <a:spcPct val="0"/>
              </a:spcBef>
              <a:spcAft>
                <a:spcPct val="0"/>
              </a:spcAft>
              <a:defRPr sz="18100">
                <a:solidFill>
                  <a:schemeClr val="tx2"/>
                </a:solidFill>
                <a:latin typeface="Arial" charset="0"/>
              </a:defRPr>
            </a:lvl7pPr>
            <a:lvl8pPr marL="1371600" algn="ctr" defTabSz="3762375" rtl="0" fontAlgn="base">
              <a:spcBef>
                <a:spcPct val="0"/>
              </a:spcBef>
              <a:spcAft>
                <a:spcPct val="0"/>
              </a:spcAft>
              <a:defRPr sz="18100">
                <a:solidFill>
                  <a:schemeClr val="tx2"/>
                </a:solidFill>
                <a:latin typeface="Arial" charset="0"/>
              </a:defRPr>
            </a:lvl8pPr>
            <a:lvl9pPr marL="1828800" algn="ctr" defTabSz="3762375" rtl="0" fontAlgn="base">
              <a:spcBef>
                <a:spcPct val="0"/>
              </a:spcBef>
              <a:spcAft>
                <a:spcPct val="0"/>
              </a:spcAft>
              <a:defRPr sz="181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Ali Kayyam • Anusha Madan Gopal  •  M Anthony Lewis</a:t>
            </a:r>
          </a:p>
          <a:p>
            <a:endParaRPr lang="en-US" sz="3796" b="1" u="sng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1E3BA1B-F318-49D8-877E-5AC2DE63E49D}"/>
              </a:ext>
            </a:extLst>
          </p:cNvPr>
          <p:cNvGrpSpPr/>
          <p:nvPr/>
        </p:nvGrpSpPr>
        <p:grpSpPr>
          <a:xfrm>
            <a:off x="609933" y="3043990"/>
            <a:ext cx="10753343" cy="10983043"/>
            <a:chOff x="437554" y="3801573"/>
            <a:chExt cx="10972800" cy="8229600"/>
          </a:xfrm>
        </p:grpSpPr>
        <p:sp>
          <p:nvSpPr>
            <p:cNvPr id="4104" name="Rectangle 8">
              <a:extLst>
                <a:ext uri="{FF2B5EF4-FFF2-40B4-BE49-F238E27FC236}">
                  <a16:creationId xmlns:a16="http://schemas.microsoft.com/office/drawing/2014/main" id="{B4D2371B-01C6-4A46-8193-24FC539EC7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554" y="3801573"/>
              <a:ext cx="10972800" cy="8229600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anchor="t"/>
            <a:lstStyle>
              <a:lvl1pPr defTabSz="3762375">
                <a:spcBef>
                  <a:spcPct val="20000"/>
                </a:spcBef>
                <a:buChar char="•"/>
                <a:defRPr sz="12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3762375">
                <a:spcBef>
                  <a:spcPct val="20000"/>
                </a:spcBef>
                <a:buChar char="–"/>
                <a:defRPr sz="10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3762375">
                <a:spcBef>
                  <a:spcPct val="20000"/>
                </a:spcBef>
                <a:buChar char="•"/>
                <a:defRPr sz="9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3762375">
                <a:spcBef>
                  <a:spcPct val="20000"/>
                </a:spcBef>
                <a:buChar char="–"/>
                <a:defRPr sz="7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3762375">
                <a:spcBef>
                  <a:spcPct val="20000"/>
                </a:spcBef>
                <a:buChar char="»"/>
                <a:defRPr sz="7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37623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7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37623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7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37623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7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37623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7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endParaRPr lang="en-US" altLang="en-US" sz="12970" dirty="0"/>
            </a:p>
          </p:txBody>
        </p:sp>
        <p:sp>
          <p:nvSpPr>
            <p:cNvPr id="2059" name="Rectangle 9">
              <a:extLst>
                <a:ext uri="{FF2B5EF4-FFF2-40B4-BE49-F238E27FC236}">
                  <a16:creationId xmlns:a16="http://schemas.microsoft.com/office/drawing/2014/main" id="{78F4E2B1-67C1-4E1A-BE4D-206AEA1348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560" y="3807217"/>
              <a:ext cx="10851535" cy="587227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sz="3800" b="1" dirty="0">
                  <a:solidFill>
                    <a:schemeClr val="bg1"/>
                  </a:solidFill>
                </a:rPr>
                <a:t>Problem Statement</a:t>
              </a:r>
            </a:p>
          </p:txBody>
        </p:sp>
      </p:grpSp>
      <p:grpSp>
        <p:nvGrpSpPr>
          <p:cNvPr id="325" name="Group 324">
            <a:extLst>
              <a:ext uri="{FF2B5EF4-FFF2-40B4-BE49-F238E27FC236}">
                <a16:creationId xmlns:a16="http://schemas.microsoft.com/office/drawing/2014/main" id="{AF622503-2704-441B-9E61-258276E43E54}"/>
              </a:ext>
            </a:extLst>
          </p:cNvPr>
          <p:cNvGrpSpPr/>
          <p:nvPr/>
        </p:nvGrpSpPr>
        <p:grpSpPr>
          <a:xfrm>
            <a:off x="710002" y="14290563"/>
            <a:ext cx="10437139" cy="10373577"/>
            <a:chOff x="437554" y="3738841"/>
            <a:chExt cx="10972806" cy="8292332"/>
          </a:xfrm>
        </p:grpSpPr>
        <p:sp>
          <p:nvSpPr>
            <p:cNvPr id="326" name="Rectangle 8">
              <a:extLst>
                <a:ext uri="{FF2B5EF4-FFF2-40B4-BE49-F238E27FC236}">
                  <a16:creationId xmlns:a16="http://schemas.microsoft.com/office/drawing/2014/main" id="{7EA7A039-142C-4746-8286-E5B9A6358C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554" y="3801573"/>
              <a:ext cx="10972800" cy="8229600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anchor="t"/>
            <a:lstStyle>
              <a:lvl1pPr defTabSz="3762375">
                <a:spcBef>
                  <a:spcPct val="20000"/>
                </a:spcBef>
                <a:buChar char="•"/>
                <a:defRPr sz="12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3762375">
                <a:spcBef>
                  <a:spcPct val="20000"/>
                </a:spcBef>
                <a:buChar char="–"/>
                <a:defRPr sz="10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3762375">
                <a:spcBef>
                  <a:spcPct val="20000"/>
                </a:spcBef>
                <a:buChar char="•"/>
                <a:defRPr sz="9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3762375">
                <a:spcBef>
                  <a:spcPct val="20000"/>
                </a:spcBef>
                <a:buChar char="–"/>
                <a:defRPr sz="7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3762375">
                <a:spcBef>
                  <a:spcPct val="20000"/>
                </a:spcBef>
                <a:buChar char="»"/>
                <a:defRPr sz="7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37623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7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37623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7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37623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7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37623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7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endParaRPr lang="en-US" altLang="en-US" sz="12970" dirty="0"/>
            </a:p>
          </p:txBody>
        </p:sp>
        <p:sp>
          <p:nvSpPr>
            <p:cNvPr id="327" name="Rectangle 9">
              <a:extLst>
                <a:ext uri="{FF2B5EF4-FFF2-40B4-BE49-F238E27FC236}">
                  <a16:creationId xmlns:a16="http://schemas.microsoft.com/office/drawing/2014/main" id="{F727EC87-712A-475D-B806-9E438039A3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560" y="3738841"/>
              <a:ext cx="10972800" cy="722506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sz="3800" b="1" dirty="0">
                  <a:solidFill>
                    <a:schemeClr val="bg1"/>
                  </a:solidFill>
                </a:rPr>
                <a:t>Method: projection Sharing</a:t>
              </a:r>
            </a:p>
          </p:txBody>
        </p:sp>
      </p:grpSp>
      <p:grpSp>
        <p:nvGrpSpPr>
          <p:cNvPr id="329" name="Group 328">
            <a:extLst>
              <a:ext uri="{FF2B5EF4-FFF2-40B4-BE49-F238E27FC236}">
                <a16:creationId xmlns:a16="http://schemas.microsoft.com/office/drawing/2014/main" id="{DC438873-2FB7-4A81-A8E4-4D7D1756518F}"/>
              </a:ext>
            </a:extLst>
          </p:cNvPr>
          <p:cNvGrpSpPr/>
          <p:nvPr/>
        </p:nvGrpSpPr>
        <p:grpSpPr>
          <a:xfrm>
            <a:off x="11470291" y="3051139"/>
            <a:ext cx="14514237" cy="10424160"/>
            <a:chOff x="-10690" y="3801573"/>
            <a:chExt cx="11421044" cy="8229600"/>
          </a:xfrm>
        </p:grpSpPr>
        <p:sp>
          <p:nvSpPr>
            <p:cNvPr id="330" name="Rectangle 8">
              <a:extLst>
                <a:ext uri="{FF2B5EF4-FFF2-40B4-BE49-F238E27FC236}">
                  <a16:creationId xmlns:a16="http://schemas.microsoft.com/office/drawing/2014/main" id="{886BE9B7-ABC2-48F0-AC2A-8B9C8F1544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554" y="3801573"/>
              <a:ext cx="10972800" cy="8229600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anchor="t"/>
            <a:lstStyle>
              <a:lvl1pPr defTabSz="3762375">
                <a:spcBef>
                  <a:spcPct val="20000"/>
                </a:spcBef>
                <a:buChar char="•"/>
                <a:defRPr sz="12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3762375">
                <a:spcBef>
                  <a:spcPct val="20000"/>
                </a:spcBef>
                <a:buChar char="–"/>
                <a:defRPr sz="10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3762375">
                <a:spcBef>
                  <a:spcPct val="20000"/>
                </a:spcBef>
                <a:buChar char="•"/>
                <a:defRPr sz="9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3762375">
                <a:spcBef>
                  <a:spcPct val="20000"/>
                </a:spcBef>
                <a:buChar char="–"/>
                <a:defRPr sz="7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3762375">
                <a:spcBef>
                  <a:spcPct val="20000"/>
                </a:spcBef>
                <a:buChar char="»"/>
                <a:defRPr sz="7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37623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7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37623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7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37623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7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37623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7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endParaRPr lang="en-US" altLang="en-US" sz="12970" dirty="0"/>
            </a:p>
          </p:txBody>
        </p:sp>
        <p:sp>
          <p:nvSpPr>
            <p:cNvPr id="331" name="Rectangle 9">
              <a:extLst>
                <a:ext uri="{FF2B5EF4-FFF2-40B4-BE49-F238E27FC236}">
                  <a16:creationId xmlns:a16="http://schemas.microsoft.com/office/drawing/2014/main" id="{94A88847-79AA-48CC-83E0-062769B096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0690" y="3807218"/>
              <a:ext cx="10403958" cy="54939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indent="0" algn="ctr">
                <a:buNone/>
              </a:pPr>
              <a:r>
                <a:rPr lang="en-US" sz="4000" b="1" dirty="0">
                  <a:solidFill>
                    <a:srgbClr val="FFFFFF"/>
                  </a:solidFill>
                  <a:ea typeface="Arial" pitchFamily="34" charset="-122"/>
                  <a:cs typeface="Arial" pitchFamily="34" charset="-120"/>
                </a:rPr>
                <a:t>Main Results: Language Modeling</a:t>
              </a:r>
              <a:endParaRPr lang="en-US" sz="4000" dirty="0"/>
            </a:p>
          </p:txBody>
        </p:sp>
      </p:grpSp>
      <p:grpSp>
        <p:nvGrpSpPr>
          <p:cNvPr id="333" name="Group 332">
            <a:extLst>
              <a:ext uri="{FF2B5EF4-FFF2-40B4-BE49-F238E27FC236}">
                <a16:creationId xmlns:a16="http://schemas.microsoft.com/office/drawing/2014/main" id="{6F46940C-7A32-47F6-B15C-F53DFA1F9B23}"/>
              </a:ext>
            </a:extLst>
          </p:cNvPr>
          <p:cNvGrpSpPr/>
          <p:nvPr/>
        </p:nvGrpSpPr>
        <p:grpSpPr>
          <a:xfrm>
            <a:off x="11405210" y="14280241"/>
            <a:ext cx="11549717" cy="10399719"/>
            <a:chOff x="437554" y="3801573"/>
            <a:chExt cx="11137749" cy="8229600"/>
          </a:xfrm>
        </p:grpSpPr>
        <p:sp>
          <p:nvSpPr>
            <p:cNvPr id="334" name="Rectangle 8">
              <a:extLst>
                <a:ext uri="{FF2B5EF4-FFF2-40B4-BE49-F238E27FC236}">
                  <a16:creationId xmlns:a16="http://schemas.microsoft.com/office/drawing/2014/main" id="{464D86CA-FEFB-4AEE-9625-338E6E2F01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554" y="3801573"/>
              <a:ext cx="10972800" cy="8229600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anchor="t"/>
            <a:lstStyle>
              <a:lvl1pPr defTabSz="3762375">
                <a:spcBef>
                  <a:spcPct val="20000"/>
                </a:spcBef>
                <a:buChar char="•"/>
                <a:defRPr sz="12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3762375">
                <a:spcBef>
                  <a:spcPct val="20000"/>
                </a:spcBef>
                <a:buChar char="–"/>
                <a:defRPr sz="10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3762375">
                <a:spcBef>
                  <a:spcPct val="20000"/>
                </a:spcBef>
                <a:buChar char="•"/>
                <a:defRPr sz="9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3762375">
                <a:spcBef>
                  <a:spcPct val="20000"/>
                </a:spcBef>
                <a:buChar char="–"/>
                <a:defRPr sz="7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3762375">
                <a:spcBef>
                  <a:spcPct val="20000"/>
                </a:spcBef>
                <a:buChar char="»"/>
                <a:defRPr sz="7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37623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7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37623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7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37623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7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37623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7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endParaRPr lang="en-US" altLang="en-US" sz="12970" dirty="0"/>
            </a:p>
          </p:txBody>
        </p:sp>
        <p:sp>
          <p:nvSpPr>
            <p:cNvPr id="335" name="Rectangle 9">
              <a:extLst>
                <a:ext uri="{FF2B5EF4-FFF2-40B4-BE49-F238E27FC236}">
                  <a16:creationId xmlns:a16="http://schemas.microsoft.com/office/drawing/2014/main" id="{CC8D8D79-2B67-4AEE-A77D-C423C05B90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554" y="3807216"/>
              <a:ext cx="11137749" cy="71776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sz="3800" b="1" dirty="0">
                  <a:solidFill>
                    <a:schemeClr val="bg1"/>
                  </a:solidFill>
                </a:rPr>
                <a:t>Why It Works?</a:t>
              </a:r>
            </a:p>
          </p:txBody>
        </p:sp>
      </p:grpSp>
      <p:sp>
        <p:nvSpPr>
          <p:cNvPr id="343" name="Rectangle 9">
            <a:extLst>
              <a:ext uri="{FF2B5EF4-FFF2-40B4-BE49-F238E27FC236}">
                <a16:creationId xmlns:a16="http://schemas.microsoft.com/office/drawing/2014/main" id="{7C4943E5-BC7E-42A5-98F5-B4BC6D4EFA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47274" y="16591945"/>
            <a:ext cx="11068116" cy="87900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3800" b="1" dirty="0">
                <a:solidFill>
                  <a:schemeClr val="bg1"/>
                </a:solidFill>
              </a:rPr>
              <a:t>Deployment &amp; Impact	</a:t>
            </a:r>
          </a:p>
        </p:txBody>
      </p:sp>
      <p:sp>
        <p:nvSpPr>
          <p:cNvPr id="241" name="Content Placeholder 2">
            <a:extLst>
              <a:ext uri="{FF2B5EF4-FFF2-40B4-BE49-F238E27FC236}">
                <a16:creationId xmlns:a16="http://schemas.microsoft.com/office/drawing/2014/main" id="{6EB93F24-A23D-43E3-8555-4E27FCE80FF0}"/>
              </a:ext>
            </a:extLst>
          </p:cNvPr>
          <p:cNvSpPr txBox="1">
            <a:spLocks/>
          </p:cNvSpPr>
          <p:nvPr/>
        </p:nvSpPr>
        <p:spPr>
          <a:xfrm>
            <a:off x="11779799" y="4851831"/>
            <a:ext cx="10400658" cy="2522919"/>
          </a:xfrm>
          <a:prstGeom prst="rect">
            <a:avLst/>
          </a:prstGeom>
        </p:spPr>
        <p:txBody>
          <a:bodyPr vert="horz" lIns="96428" tIns="48214" rIns="96428" bIns="48214" rtlCol="0">
            <a:noAutofit/>
          </a:bodyPr>
          <a:lstStyle>
            <a:lvl1pPr marL="342891" indent="-342891" algn="l" rtl="0" eaLnBrk="1" fontAlgn="base" hangingPunct="1">
              <a:spcBef>
                <a:spcPts val="0"/>
              </a:spcBef>
              <a:spcAft>
                <a:spcPct val="0"/>
              </a:spcAft>
              <a:buSzPct val="100000"/>
              <a:buChar char="•"/>
              <a:defRPr sz="28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ts val="0"/>
              </a:spcBef>
              <a:spcAft>
                <a:spcPct val="0"/>
              </a:spcAft>
              <a:buSzPct val="100000"/>
              <a:buChar char="–"/>
              <a:defRPr sz="24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8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18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spcAft>
                <a:spcPts val="316"/>
              </a:spcAft>
              <a:buClr>
                <a:schemeClr val="tx1"/>
              </a:buClr>
            </a:pPr>
            <a:endParaRPr lang="en-US" b="1" dirty="0">
              <a:latin typeface="Arial" panose="020B0604020202020204" pitchFamily="34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185B1AE-1B5A-049B-D166-2E7DDF540239}"/>
              </a:ext>
            </a:extLst>
          </p:cNvPr>
          <p:cNvSpPr txBox="1"/>
          <p:nvPr/>
        </p:nvSpPr>
        <p:spPr>
          <a:xfrm>
            <a:off x="675041" y="4286081"/>
            <a:ext cx="1037979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ea typeface="Arial" pitchFamily="34" charset="-122"/>
                <a:cs typeface="Arial" pitchFamily="34" charset="-120"/>
              </a:rPr>
              <a:t>Every attention head learns </a:t>
            </a:r>
            <a:r>
              <a:rPr lang="en-US" sz="2800" b="1" dirty="0">
                <a:ea typeface="Arial" pitchFamily="34" charset="-122"/>
                <a:cs typeface="Arial" pitchFamily="34" charset="-120"/>
              </a:rPr>
              <a:t>three</a:t>
            </a:r>
            <a:r>
              <a:rPr lang="en-US" sz="2800" dirty="0">
                <a:ea typeface="Arial" pitchFamily="34" charset="-122"/>
                <a:cs typeface="Arial" pitchFamily="34" charset="-120"/>
              </a:rPr>
              <a:t> separate linear projections of each token — </a:t>
            </a:r>
            <a:r>
              <a:rPr lang="en-US" sz="2800" b="1" dirty="0">
                <a:ea typeface="Arial" pitchFamily="34" charset="-122"/>
                <a:cs typeface="Arial" pitchFamily="34" charset="-120"/>
              </a:rPr>
              <a:t>Query, Key, Value</a:t>
            </a:r>
            <a:r>
              <a:rPr lang="en-US" sz="2800" dirty="0">
                <a:ea typeface="Arial" pitchFamily="34" charset="-122"/>
                <a:cs typeface="Arial" pitchFamily="34" charset="-120"/>
              </a:rPr>
              <a:t>.  This redundancy is rarely questioned.</a:t>
            </a:r>
            <a:endParaRPr lang="en-US" sz="2800" dirty="0"/>
          </a:p>
        </p:txBody>
      </p:sp>
      <p:sp>
        <p:nvSpPr>
          <p:cNvPr id="4138" name="Rectangle 8">
            <a:extLst>
              <a:ext uri="{FF2B5EF4-FFF2-40B4-BE49-F238E27FC236}">
                <a16:creationId xmlns:a16="http://schemas.microsoft.com/office/drawing/2014/main" id="{A50C1B94-15DB-6686-2849-D307A25DEC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9668" y="20269186"/>
            <a:ext cx="11378666" cy="104241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t"/>
          <a:lstStyle>
            <a:lvl1pPr defTabSz="3762375">
              <a:spcBef>
                <a:spcPct val="20000"/>
              </a:spcBef>
              <a:buChar char="•"/>
              <a:defRPr sz="12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3762375">
              <a:spcBef>
                <a:spcPct val="20000"/>
              </a:spcBef>
              <a:buChar char="–"/>
              <a:defRPr sz="107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3762375">
              <a:spcBef>
                <a:spcPct val="20000"/>
              </a:spcBef>
              <a:buChar char="•"/>
              <a:defRPr sz="9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3762375">
              <a:spcBef>
                <a:spcPct val="20000"/>
              </a:spcBef>
              <a:buChar char="–"/>
              <a:defRPr sz="7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3762375">
              <a:spcBef>
                <a:spcPct val="20000"/>
              </a:spcBef>
              <a:buChar char="»"/>
              <a:defRPr sz="7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37623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7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37623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7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37623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7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37623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7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en-US" altLang="en-US" sz="12970" dirty="0"/>
          </a:p>
        </p:txBody>
      </p:sp>
      <p:sp>
        <p:nvSpPr>
          <p:cNvPr id="4146" name="Content Placeholder 2">
            <a:extLst>
              <a:ext uri="{FF2B5EF4-FFF2-40B4-BE49-F238E27FC236}">
                <a16:creationId xmlns:a16="http://schemas.microsoft.com/office/drawing/2014/main" id="{383F73D3-D641-D5E9-7F2E-A0AA66F8B364}"/>
              </a:ext>
            </a:extLst>
          </p:cNvPr>
          <p:cNvSpPr txBox="1">
            <a:spLocks/>
          </p:cNvSpPr>
          <p:nvPr/>
        </p:nvSpPr>
        <p:spPr>
          <a:xfrm>
            <a:off x="23609554" y="17494649"/>
            <a:ext cx="10580706" cy="2484580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96428" tIns="48214" rIns="96428" bIns="48214" rtlCol="0">
            <a:noAutofit/>
          </a:bodyPr>
          <a:lstStyle>
            <a:lvl1pPr marL="342891" indent="-342891" algn="l" rtl="0" eaLnBrk="1" fontAlgn="base" hangingPunct="1">
              <a:spcBef>
                <a:spcPts val="0"/>
              </a:spcBef>
              <a:spcAft>
                <a:spcPct val="0"/>
              </a:spcAft>
              <a:buSzPct val="100000"/>
              <a:buChar char="•"/>
              <a:defRPr sz="28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ts val="0"/>
              </a:spcBef>
              <a:spcAft>
                <a:spcPct val="0"/>
              </a:spcAft>
              <a:buSzPct val="100000"/>
              <a:buChar char="–"/>
              <a:defRPr sz="24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8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18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742941" lvl="1" indent="-342900">
              <a:spcAft>
                <a:spcPts val="316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b="1" dirty="0">
              <a:latin typeface="Arial" panose="020B0604020202020204" pitchFamily="34" charset="0"/>
            </a:endParaRPr>
          </a:p>
        </p:txBody>
      </p:sp>
      <p:sp>
        <p:nvSpPr>
          <p:cNvPr id="2" name="Rectangle 9">
            <a:extLst>
              <a:ext uri="{FF2B5EF4-FFF2-40B4-BE49-F238E27FC236}">
                <a16:creationId xmlns:a16="http://schemas.microsoft.com/office/drawing/2014/main" id="{5172265A-2584-305E-43D6-3D80C509F3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68186" y="20440522"/>
            <a:ext cx="11549717" cy="90703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3800" b="1" dirty="0">
                <a:solidFill>
                  <a:schemeClr val="bg1"/>
                </a:solidFill>
              </a:rPr>
              <a:t>Key Takeaways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58A3769-2463-3390-E1BE-3CC702147ECC}"/>
              </a:ext>
            </a:extLst>
          </p:cNvPr>
          <p:cNvGrpSpPr/>
          <p:nvPr/>
        </p:nvGrpSpPr>
        <p:grpSpPr>
          <a:xfrm>
            <a:off x="24957674" y="2943844"/>
            <a:ext cx="9478543" cy="10424160"/>
            <a:chOff x="-1477772" y="3801573"/>
            <a:chExt cx="13182709" cy="82296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8868AA8-2551-F6D1-E021-C55E63CD6E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554" y="3801573"/>
              <a:ext cx="10972800" cy="8229600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anchor="t"/>
            <a:lstStyle>
              <a:lvl1pPr defTabSz="3762375">
                <a:spcBef>
                  <a:spcPct val="20000"/>
                </a:spcBef>
                <a:buChar char="•"/>
                <a:defRPr sz="12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3762375">
                <a:spcBef>
                  <a:spcPct val="20000"/>
                </a:spcBef>
                <a:buChar char="–"/>
                <a:defRPr sz="107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3762375">
                <a:spcBef>
                  <a:spcPct val="20000"/>
                </a:spcBef>
                <a:buChar char="•"/>
                <a:defRPr sz="9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3762375">
                <a:spcBef>
                  <a:spcPct val="20000"/>
                </a:spcBef>
                <a:buChar char="–"/>
                <a:defRPr sz="7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3762375">
                <a:spcBef>
                  <a:spcPct val="20000"/>
                </a:spcBef>
                <a:buChar char="»"/>
                <a:defRPr sz="7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37623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7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37623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7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37623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7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37623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7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endParaRPr lang="en-US" altLang="en-US" sz="12970" dirty="0"/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35638AF2-6677-76E3-F333-B3C58D3C28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477772" y="3870009"/>
              <a:ext cx="13182709" cy="509068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indent="0" algn="ctr">
                <a:buNone/>
              </a:pPr>
              <a:r>
                <a:rPr lang="en-US" sz="4000" b="1" dirty="0">
                  <a:solidFill>
                    <a:srgbClr val="FFFFFF"/>
                  </a:solidFill>
                  <a:ea typeface="Arial" pitchFamily="34" charset="-122"/>
                  <a:cs typeface="Arial" pitchFamily="34" charset="-120"/>
                </a:rPr>
                <a:t>Stacking with Head Sharing</a:t>
              </a:r>
              <a:endParaRPr lang="en-US" sz="4000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B387C6CF-74B8-9540-12B5-BAF54F1E01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620" y="364750"/>
            <a:ext cx="3949463" cy="128752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48CEA2A3-3EA6-D662-4C03-7B16F278D4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4186" y="-440571"/>
            <a:ext cx="5172031" cy="2586016"/>
          </a:xfrm>
          <a:prstGeom prst="rect">
            <a:avLst/>
          </a:prstGeom>
        </p:spPr>
      </p:pic>
      <p:sp>
        <p:nvSpPr>
          <p:cNvPr id="6" name="Shape 7">
            <a:extLst>
              <a:ext uri="{FF2B5EF4-FFF2-40B4-BE49-F238E27FC236}">
                <a16:creationId xmlns:a16="http://schemas.microsoft.com/office/drawing/2014/main" id="{9D4D2F59-CAF3-1018-2F85-890359B86697}"/>
              </a:ext>
            </a:extLst>
          </p:cNvPr>
          <p:cNvSpPr/>
          <p:nvPr/>
        </p:nvSpPr>
        <p:spPr>
          <a:xfrm>
            <a:off x="675041" y="5779008"/>
            <a:ext cx="10358719" cy="2138004"/>
          </a:xfrm>
          <a:prstGeom prst="rect">
            <a:avLst/>
          </a:prstGeom>
          <a:solidFill>
            <a:srgbClr val="EEF2FA"/>
          </a:solidFill>
          <a:ln w="12700">
            <a:solidFill>
              <a:srgbClr val="C9D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528EF7F1-9DFA-9B84-F8DE-E79734185264}"/>
              </a:ext>
            </a:extLst>
          </p:cNvPr>
          <p:cNvSpPr/>
          <p:nvPr/>
        </p:nvSpPr>
        <p:spPr>
          <a:xfrm>
            <a:off x="1143000" y="5916168"/>
            <a:ext cx="9662160" cy="1743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CNNs, RNNs and State-Space Models use unified internal representations — Transformers keep three. Is the tripartite design actually necessary?</a:t>
            </a:r>
            <a:endParaRPr lang="en-US" sz="2800" dirty="0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DE645037-CDE3-C6BF-0AD2-B06565C4FDAC}"/>
              </a:ext>
            </a:extLst>
          </p:cNvPr>
          <p:cNvSpPr/>
          <p:nvPr/>
        </p:nvSpPr>
        <p:spPr>
          <a:xfrm>
            <a:off x="711200" y="8920280"/>
            <a:ext cx="1011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33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PROJECTION-SHARING CONSTRAINTS</a:t>
            </a:r>
            <a:endParaRPr lang="en-US" sz="2800" dirty="0"/>
          </a:p>
        </p:txBody>
      </p:sp>
      <p:sp>
        <p:nvSpPr>
          <p:cNvPr id="33" name="Shape 10">
            <a:extLst>
              <a:ext uri="{FF2B5EF4-FFF2-40B4-BE49-F238E27FC236}">
                <a16:creationId xmlns:a16="http://schemas.microsoft.com/office/drawing/2014/main" id="{15C7EEA1-47E0-AF91-5B92-D08BF0C37AAB}"/>
              </a:ext>
            </a:extLst>
          </p:cNvPr>
          <p:cNvSpPr/>
          <p:nvPr/>
        </p:nvSpPr>
        <p:spPr>
          <a:xfrm>
            <a:off x="711200" y="9377480"/>
            <a:ext cx="109728" cy="960120"/>
          </a:xfrm>
          <a:prstGeom prst="rect">
            <a:avLst/>
          </a:prstGeom>
          <a:solidFill>
            <a:srgbClr val="EA8A1E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34" name="Shape 11">
            <a:extLst>
              <a:ext uri="{FF2B5EF4-FFF2-40B4-BE49-F238E27FC236}">
                <a16:creationId xmlns:a16="http://schemas.microsoft.com/office/drawing/2014/main" id="{5243B0C5-C54A-A812-14BB-EB00F18DD471}"/>
              </a:ext>
            </a:extLst>
          </p:cNvPr>
          <p:cNvSpPr/>
          <p:nvPr/>
        </p:nvSpPr>
        <p:spPr>
          <a:xfrm>
            <a:off x="820928" y="9377480"/>
            <a:ext cx="1000963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E6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04344128-1FC2-E5D9-0CBA-ECD42635BFD4}"/>
              </a:ext>
            </a:extLst>
          </p:cNvPr>
          <p:cNvSpPr/>
          <p:nvPr/>
        </p:nvSpPr>
        <p:spPr>
          <a:xfrm>
            <a:off x="1012952" y="93774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A8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Q=K-V</a:t>
            </a:r>
            <a:endParaRPr lang="en-US" sz="2800" dirty="0"/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41F926D6-07D0-A6C0-C14D-0256CD3E2D75}"/>
              </a:ext>
            </a:extLst>
          </p:cNvPr>
          <p:cNvSpPr/>
          <p:nvPr/>
        </p:nvSpPr>
        <p:spPr>
          <a:xfrm>
            <a:off x="4048760" y="9377480"/>
            <a:ext cx="664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Query &amp; Key  →  symmetric maps</a:t>
            </a:r>
            <a:endParaRPr lang="en-US" sz="2800" dirty="0"/>
          </a:p>
        </p:txBody>
      </p:sp>
      <p:sp>
        <p:nvSpPr>
          <p:cNvPr id="38" name="Shape 14">
            <a:extLst>
              <a:ext uri="{FF2B5EF4-FFF2-40B4-BE49-F238E27FC236}">
                <a16:creationId xmlns:a16="http://schemas.microsoft.com/office/drawing/2014/main" id="{D39811FB-28B5-539B-F046-D5BED5E9B0BA}"/>
              </a:ext>
            </a:extLst>
          </p:cNvPr>
          <p:cNvSpPr/>
          <p:nvPr/>
        </p:nvSpPr>
        <p:spPr>
          <a:xfrm>
            <a:off x="711200" y="10474760"/>
            <a:ext cx="109728" cy="9601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39" name="Shape 15">
            <a:extLst>
              <a:ext uri="{FF2B5EF4-FFF2-40B4-BE49-F238E27FC236}">
                <a16:creationId xmlns:a16="http://schemas.microsoft.com/office/drawing/2014/main" id="{F54035A3-0777-E93B-8BD8-C8B85E49BF01}"/>
              </a:ext>
            </a:extLst>
          </p:cNvPr>
          <p:cNvSpPr/>
          <p:nvPr/>
        </p:nvSpPr>
        <p:spPr>
          <a:xfrm>
            <a:off x="820928" y="10474760"/>
            <a:ext cx="1000963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E6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0" name="Text 16">
            <a:extLst>
              <a:ext uri="{FF2B5EF4-FFF2-40B4-BE49-F238E27FC236}">
                <a16:creationId xmlns:a16="http://schemas.microsoft.com/office/drawing/2014/main" id="{04A20B05-67E7-4BE6-57E3-E512101FAD7D}"/>
              </a:ext>
            </a:extLst>
          </p:cNvPr>
          <p:cNvSpPr/>
          <p:nvPr/>
        </p:nvSpPr>
        <p:spPr>
          <a:xfrm>
            <a:off x="1012952" y="104747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Q-K=V</a:t>
            </a:r>
            <a:endParaRPr lang="en-US" sz="2800" dirty="0"/>
          </a:p>
        </p:txBody>
      </p:sp>
      <p:sp>
        <p:nvSpPr>
          <p:cNvPr id="41" name="Text 17">
            <a:extLst>
              <a:ext uri="{FF2B5EF4-FFF2-40B4-BE49-F238E27FC236}">
                <a16:creationId xmlns:a16="http://schemas.microsoft.com/office/drawing/2014/main" id="{D4D4A1F0-D7CB-8FDC-C7AD-166483F80B13}"/>
              </a:ext>
            </a:extLst>
          </p:cNvPr>
          <p:cNvSpPr/>
          <p:nvPr/>
        </p:nvSpPr>
        <p:spPr>
          <a:xfrm>
            <a:off x="4048760" y="10474760"/>
            <a:ext cx="664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Key &amp; Value  →  our key result</a:t>
            </a:r>
            <a:endParaRPr lang="en-US" sz="2800" dirty="0"/>
          </a:p>
        </p:txBody>
      </p:sp>
      <p:sp>
        <p:nvSpPr>
          <p:cNvPr id="42" name="Shape 18">
            <a:extLst>
              <a:ext uri="{FF2B5EF4-FFF2-40B4-BE49-F238E27FC236}">
                <a16:creationId xmlns:a16="http://schemas.microsoft.com/office/drawing/2014/main" id="{766BBAD0-AC30-6D9F-967F-96566363D8BB}"/>
              </a:ext>
            </a:extLst>
          </p:cNvPr>
          <p:cNvSpPr/>
          <p:nvPr/>
        </p:nvSpPr>
        <p:spPr>
          <a:xfrm>
            <a:off x="711200" y="11572040"/>
            <a:ext cx="109728" cy="9601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43" name="Shape 19">
            <a:extLst>
              <a:ext uri="{FF2B5EF4-FFF2-40B4-BE49-F238E27FC236}">
                <a16:creationId xmlns:a16="http://schemas.microsoft.com/office/drawing/2014/main" id="{738E49CC-8EE6-5C82-FF8B-D7DE9FBBC222}"/>
              </a:ext>
            </a:extLst>
          </p:cNvPr>
          <p:cNvSpPr/>
          <p:nvPr/>
        </p:nvSpPr>
        <p:spPr>
          <a:xfrm>
            <a:off x="820928" y="11572040"/>
            <a:ext cx="1000963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E6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4" name="Text 20">
            <a:extLst>
              <a:ext uri="{FF2B5EF4-FFF2-40B4-BE49-F238E27FC236}">
                <a16:creationId xmlns:a16="http://schemas.microsoft.com/office/drawing/2014/main" id="{0B106DB6-4468-105C-CBCC-27EAE9AC551B}"/>
              </a:ext>
            </a:extLst>
          </p:cNvPr>
          <p:cNvSpPr/>
          <p:nvPr/>
        </p:nvSpPr>
        <p:spPr>
          <a:xfrm>
            <a:off x="1012952" y="115720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Q=K=V</a:t>
            </a:r>
            <a:endParaRPr lang="en-US" sz="2800" dirty="0"/>
          </a:p>
        </p:txBody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09CF010A-84B9-7CAB-32E6-F40B62E15D6C}"/>
              </a:ext>
            </a:extLst>
          </p:cNvPr>
          <p:cNvSpPr/>
          <p:nvPr/>
        </p:nvSpPr>
        <p:spPr>
          <a:xfrm>
            <a:off x="4048760" y="11572040"/>
            <a:ext cx="664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projection  →  most aggressive</a:t>
            </a:r>
            <a:endParaRPr lang="en-US" sz="2800" dirty="0"/>
          </a:p>
        </p:txBody>
      </p:sp>
      <p:sp>
        <p:nvSpPr>
          <p:cNvPr id="46" name="Text 31">
            <a:extLst>
              <a:ext uri="{FF2B5EF4-FFF2-40B4-BE49-F238E27FC236}">
                <a16:creationId xmlns:a16="http://schemas.microsoft.com/office/drawing/2014/main" id="{97A74DC9-027C-E54E-8A18-59CF6AC7F0AE}"/>
              </a:ext>
            </a:extLst>
          </p:cNvPr>
          <p:cNvSpPr/>
          <p:nvPr/>
        </p:nvSpPr>
        <p:spPr>
          <a:xfrm>
            <a:off x="12377084" y="4124168"/>
            <a:ext cx="1011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8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300M and 1.2B parameter models · 10B tokens · SlimPajama. Q-K=V is the clear winner among projection variants.</a:t>
            </a:r>
            <a:endParaRPr lang="en-US" sz="2800" b="1" dirty="0"/>
          </a:p>
        </p:txBody>
      </p:sp>
      <p:sp>
        <p:nvSpPr>
          <p:cNvPr id="47" name="Text 104">
            <a:extLst>
              <a:ext uri="{FF2B5EF4-FFF2-40B4-BE49-F238E27FC236}">
                <a16:creationId xmlns:a16="http://schemas.microsoft.com/office/drawing/2014/main" id="{C1ECBA84-A2D3-82B3-6708-AC655C43FE4E}"/>
              </a:ext>
            </a:extLst>
          </p:cNvPr>
          <p:cNvSpPr/>
          <p:nvPr/>
        </p:nvSpPr>
        <p:spPr>
          <a:xfrm>
            <a:off x="492608" y="25442655"/>
            <a:ext cx="3374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3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Conclusion:  </a:t>
            </a:r>
            <a:r>
              <a:rPr lang="en-US" sz="2800" dirty="0">
                <a:solidFill>
                  <a:srgbClr val="3F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Transformers don't need three projections — tying K = V halves the KV </a:t>
            </a:r>
            <a:r>
              <a:rPr lang="en-US" dirty="0">
                <a:solidFill>
                  <a:srgbClr val="3F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</a:t>
            </a:r>
            <a:r>
              <a:rPr lang="en-US" sz="2800" dirty="0">
                <a:solidFill>
                  <a:srgbClr val="3F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 minimal quality cost and stacks with head sharing.        </a:t>
            </a:r>
          </a:p>
          <a:p>
            <a:pPr marL="0" indent="0" algn="l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Code: github.com/anushamadan02/Do-Transformers-Need-3-Projections</a:t>
            </a:r>
            <a:endParaRPr lang="en-US" sz="2800" dirty="0"/>
          </a:p>
        </p:txBody>
      </p:sp>
      <p:sp>
        <p:nvSpPr>
          <p:cNvPr id="48" name="Shape 77">
            <a:extLst>
              <a:ext uri="{FF2B5EF4-FFF2-40B4-BE49-F238E27FC236}">
                <a16:creationId xmlns:a16="http://schemas.microsoft.com/office/drawing/2014/main" id="{74A266A8-712F-C84C-4CD7-5BF4DBC37F73}"/>
              </a:ext>
            </a:extLst>
          </p:cNvPr>
          <p:cNvSpPr/>
          <p:nvPr/>
        </p:nvSpPr>
        <p:spPr>
          <a:xfrm>
            <a:off x="23713440" y="17835898"/>
            <a:ext cx="10119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E6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9" name="Shape 78">
            <a:extLst>
              <a:ext uri="{FF2B5EF4-FFF2-40B4-BE49-F238E27FC236}">
                <a16:creationId xmlns:a16="http://schemas.microsoft.com/office/drawing/2014/main" id="{AA2D48F1-A2D5-39AC-99A5-42A783E619EF}"/>
              </a:ext>
            </a:extLst>
          </p:cNvPr>
          <p:cNvSpPr/>
          <p:nvPr/>
        </p:nvSpPr>
        <p:spPr>
          <a:xfrm>
            <a:off x="23942040" y="18128506"/>
            <a:ext cx="603504" cy="603504"/>
          </a:xfrm>
          <a:prstGeom prst="ellipse">
            <a:avLst/>
          </a:prstGeom>
          <a:solidFill>
            <a:srgbClr val="EA8A1E"/>
          </a:solidFill>
          <a:ln/>
        </p:spPr>
        <p:txBody>
          <a:bodyPr/>
          <a:lstStyle/>
          <a:p>
            <a:endParaRPr lang="en-US" sz="2800"/>
          </a:p>
        </p:txBody>
      </p:sp>
      <p:pic>
        <p:nvPicPr>
          <p:cNvPr id="50" name="Image 8" descr="preencoded.png">
            <a:extLst>
              <a:ext uri="{FF2B5EF4-FFF2-40B4-BE49-F238E27FC236}">
                <a16:creationId xmlns:a16="http://schemas.microsoft.com/office/drawing/2014/main" id="{F5CB1CDB-2D71-680F-B53E-23399816DC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79200" y="18265666"/>
            <a:ext cx="329184" cy="329184"/>
          </a:xfrm>
          <a:prstGeom prst="rect">
            <a:avLst/>
          </a:prstGeom>
        </p:spPr>
      </p:pic>
      <p:sp>
        <p:nvSpPr>
          <p:cNvPr id="51" name="Text 79">
            <a:extLst>
              <a:ext uri="{FF2B5EF4-FFF2-40B4-BE49-F238E27FC236}">
                <a16:creationId xmlns:a16="http://schemas.microsoft.com/office/drawing/2014/main" id="{57FD00E9-04F6-73A8-9DAC-8FF3EF189E84}"/>
              </a:ext>
            </a:extLst>
          </p:cNvPr>
          <p:cNvSpPr/>
          <p:nvPr/>
        </p:nvSpPr>
        <p:spPr>
          <a:xfrm>
            <a:off x="24719280" y="17835898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— quality</a:t>
            </a:r>
            <a:endParaRPr lang="en-US" sz="2800" dirty="0"/>
          </a:p>
        </p:txBody>
      </p:sp>
      <p:sp>
        <p:nvSpPr>
          <p:cNvPr id="52" name="Shape 80">
            <a:extLst>
              <a:ext uri="{FF2B5EF4-FFF2-40B4-BE49-F238E27FC236}">
                <a16:creationId xmlns:a16="http://schemas.microsoft.com/office/drawing/2014/main" id="{A64DB004-9E18-6816-8BB6-391D3DA7BB05}"/>
              </a:ext>
            </a:extLst>
          </p:cNvPr>
          <p:cNvSpPr/>
          <p:nvPr/>
        </p:nvSpPr>
        <p:spPr>
          <a:xfrm>
            <a:off x="29580840" y="18146794"/>
            <a:ext cx="2331720" cy="566928"/>
          </a:xfrm>
          <a:prstGeom prst="rect">
            <a:avLst/>
          </a:prstGeom>
          <a:solidFill>
            <a:srgbClr val="EA8A1E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53" name="Text 81">
            <a:extLst>
              <a:ext uri="{FF2B5EF4-FFF2-40B4-BE49-F238E27FC236}">
                <a16:creationId xmlns:a16="http://schemas.microsoft.com/office/drawing/2014/main" id="{EFAC6A9B-23F4-8C9D-C141-DBAB42657CA8}"/>
              </a:ext>
            </a:extLst>
          </p:cNvPr>
          <p:cNvSpPr/>
          <p:nvPr/>
        </p:nvSpPr>
        <p:spPr>
          <a:xfrm>
            <a:off x="29580840" y="1814679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GQA-4</a:t>
            </a:r>
            <a:endParaRPr lang="en-US" sz="2800" dirty="0"/>
          </a:p>
        </p:txBody>
      </p:sp>
      <p:sp>
        <p:nvSpPr>
          <p:cNvPr id="54" name="Text 82">
            <a:extLst>
              <a:ext uri="{FF2B5EF4-FFF2-40B4-BE49-F238E27FC236}">
                <a16:creationId xmlns:a16="http://schemas.microsoft.com/office/drawing/2014/main" id="{E1732139-9D2B-4C46-B234-C2711D36F745}"/>
              </a:ext>
            </a:extLst>
          </p:cNvPr>
          <p:cNvSpPr/>
          <p:nvPr/>
        </p:nvSpPr>
        <p:spPr>
          <a:xfrm>
            <a:off x="32049720" y="17835898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A8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↓</a:t>
            </a:r>
            <a:endParaRPr lang="en-US" sz="2800" dirty="0"/>
          </a:p>
        </p:txBody>
      </p:sp>
      <p:sp>
        <p:nvSpPr>
          <p:cNvPr id="55" name="Shape 83">
            <a:extLst>
              <a:ext uri="{FF2B5EF4-FFF2-40B4-BE49-F238E27FC236}">
                <a16:creationId xmlns:a16="http://schemas.microsoft.com/office/drawing/2014/main" id="{8AF94A3C-38CD-0F4A-31C5-0FA35C803081}"/>
              </a:ext>
            </a:extLst>
          </p:cNvPr>
          <p:cNvSpPr/>
          <p:nvPr/>
        </p:nvSpPr>
        <p:spPr>
          <a:xfrm>
            <a:off x="23713440" y="19225786"/>
            <a:ext cx="10119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E6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56" name="Shape 84">
            <a:extLst>
              <a:ext uri="{FF2B5EF4-FFF2-40B4-BE49-F238E27FC236}">
                <a16:creationId xmlns:a16="http://schemas.microsoft.com/office/drawing/2014/main" id="{D7CE2D0D-CF43-7B79-A912-330C46CD8144}"/>
              </a:ext>
            </a:extLst>
          </p:cNvPr>
          <p:cNvSpPr/>
          <p:nvPr/>
        </p:nvSpPr>
        <p:spPr>
          <a:xfrm>
            <a:off x="23942040" y="19518394"/>
            <a:ext cx="603504" cy="60350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 sz="2800"/>
          </a:p>
        </p:txBody>
      </p:sp>
      <p:pic>
        <p:nvPicPr>
          <p:cNvPr id="57" name="Image 9" descr="preencoded.png">
            <a:extLst>
              <a:ext uri="{FF2B5EF4-FFF2-40B4-BE49-F238E27FC236}">
                <a16:creationId xmlns:a16="http://schemas.microsoft.com/office/drawing/2014/main" id="{FD47E2F5-CCB3-07E0-5F2D-FDF0179221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079200" y="19655554"/>
            <a:ext cx="329184" cy="329184"/>
          </a:xfrm>
          <a:prstGeom prst="rect">
            <a:avLst/>
          </a:prstGeom>
        </p:spPr>
      </p:pic>
      <p:sp>
        <p:nvSpPr>
          <p:cNvPr id="58" name="Text 85">
            <a:extLst>
              <a:ext uri="{FF2B5EF4-FFF2-40B4-BE49-F238E27FC236}">
                <a16:creationId xmlns:a16="http://schemas.microsoft.com/office/drawing/2014/main" id="{F7690EFE-7084-C3C4-50D9-5F810626DCAA}"/>
              </a:ext>
            </a:extLst>
          </p:cNvPr>
          <p:cNvSpPr/>
          <p:nvPr/>
        </p:nvSpPr>
        <p:spPr>
          <a:xfrm>
            <a:off x="24719280" y="19225786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— balanced</a:t>
            </a:r>
            <a:endParaRPr lang="en-US" sz="2800" dirty="0"/>
          </a:p>
        </p:txBody>
      </p:sp>
      <p:sp>
        <p:nvSpPr>
          <p:cNvPr id="59" name="Shape 86">
            <a:extLst>
              <a:ext uri="{FF2B5EF4-FFF2-40B4-BE49-F238E27FC236}">
                <a16:creationId xmlns:a16="http://schemas.microsoft.com/office/drawing/2014/main" id="{31FD7543-BF99-424A-415B-77477B412F02}"/>
              </a:ext>
            </a:extLst>
          </p:cNvPr>
          <p:cNvSpPr/>
          <p:nvPr/>
        </p:nvSpPr>
        <p:spPr>
          <a:xfrm>
            <a:off x="29580840" y="19536682"/>
            <a:ext cx="2331720" cy="56692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60" name="Text 87">
            <a:extLst>
              <a:ext uri="{FF2B5EF4-FFF2-40B4-BE49-F238E27FC236}">
                <a16:creationId xmlns:a16="http://schemas.microsoft.com/office/drawing/2014/main" id="{92489745-4331-6236-3562-B8F035655DE4}"/>
              </a:ext>
            </a:extLst>
          </p:cNvPr>
          <p:cNvSpPr/>
          <p:nvPr/>
        </p:nvSpPr>
        <p:spPr>
          <a:xfrm>
            <a:off x="29580840" y="1953668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Q-K=V</a:t>
            </a:r>
            <a:endParaRPr lang="en-US" sz="2800" dirty="0"/>
          </a:p>
        </p:txBody>
      </p:sp>
      <p:sp>
        <p:nvSpPr>
          <p:cNvPr id="61" name="Text 88">
            <a:extLst>
              <a:ext uri="{FF2B5EF4-FFF2-40B4-BE49-F238E27FC236}">
                <a16:creationId xmlns:a16="http://schemas.microsoft.com/office/drawing/2014/main" id="{22FBEA44-8F99-79CD-361E-480D9FC959F1}"/>
              </a:ext>
            </a:extLst>
          </p:cNvPr>
          <p:cNvSpPr/>
          <p:nvPr/>
        </p:nvSpPr>
        <p:spPr>
          <a:xfrm>
            <a:off x="32049720" y="19225786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↓</a:t>
            </a:r>
            <a:endParaRPr lang="en-US" sz="2800" dirty="0"/>
          </a:p>
        </p:txBody>
      </p:sp>
      <p:sp>
        <p:nvSpPr>
          <p:cNvPr id="62" name="Shape 89">
            <a:extLst>
              <a:ext uri="{FF2B5EF4-FFF2-40B4-BE49-F238E27FC236}">
                <a16:creationId xmlns:a16="http://schemas.microsoft.com/office/drawing/2014/main" id="{9052631C-8961-E397-FD32-D9B64E3A2848}"/>
              </a:ext>
            </a:extLst>
          </p:cNvPr>
          <p:cNvSpPr/>
          <p:nvPr/>
        </p:nvSpPr>
        <p:spPr>
          <a:xfrm>
            <a:off x="23713440" y="20615674"/>
            <a:ext cx="10119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E6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63" name="Shape 90">
            <a:extLst>
              <a:ext uri="{FF2B5EF4-FFF2-40B4-BE49-F238E27FC236}">
                <a16:creationId xmlns:a16="http://schemas.microsoft.com/office/drawing/2014/main" id="{D32A1B4C-ADB9-570A-2958-829874C650EA}"/>
              </a:ext>
            </a:extLst>
          </p:cNvPr>
          <p:cNvSpPr/>
          <p:nvPr/>
        </p:nvSpPr>
        <p:spPr>
          <a:xfrm>
            <a:off x="23942040" y="20908282"/>
            <a:ext cx="603504" cy="603504"/>
          </a:xfrm>
          <a:prstGeom prst="ellipse">
            <a:avLst/>
          </a:prstGeom>
          <a:solidFill>
            <a:srgbClr val="1B9E5A"/>
          </a:solidFill>
          <a:ln/>
        </p:spPr>
        <p:txBody>
          <a:bodyPr/>
          <a:lstStyle/>
          <a:p>
            <a:endParaRPr lang="en-US" sz="2800"/>
          </a:p>
        </p:txBody>
      </p:sp>
      <p:pic>
        <p:nvPicPr>
          <p:cNvPr id="64" name="Image 10" descr="preencoded.png">
            <a:extLst>
              <a:ext uri="{FF2B5EF4-FFF2-40B4-BE49-F238E27FC236}">
                <a16:creationId xmlns:a16="http://schemas.microsoft.com/office/drawing/2014/main" id="{55332223-86A8-678B-F40F-98C7C9425C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079200" y="21045442"/>
            <a:ext cx="329184" cy="329184"/>
          </a:xfrm>
          <a:prstGeom prst="rect">
            <a:avLst/>
          </a:prstGeom>
        </p:spPr>
      </p:pic>
      <p:sp>
        <p:nvSpPr>
          <p:cNvPr id="65" name="Text 91">
            <a:extLst>
              <a:ext uri="{FF2B5EF4-FFF2-40B4-BE49-F238E27FC236}">
                <a16:creationId xmlns:a16="http://schemas.microsoft.com/office/drawing/2014/main" id="{DE1A853F-9D8F-A12C-7232-F589A29A33CF}"/>
              </a:ext>
            </a:extLst>
          </p:cNvPr>
          <p:cNvSpPr/>
          <p:nvPr/>
        </p:nvSpPr>
        <p:spPr>
          <a:xfrm>
            <a:off x="24719280" y="20615674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— aggressive</a:t>
            </a:r>
            <a:endParaRPr lang="en-US" sz="2800" dirty="0"/>
          </a:p>
        </p:txBody>
      </p:sp>
      <p:sp>
        <p:nvSpPr>
          <p:cNvPr id="66" name="Shape 92">
            <a:extLst>
              <a:ext uri="{FF2B5EF4-FFF2-40B4-BE49-F238E27FC236}">
                <a16:creationId xmlns:a16="http://schemas.microsoft.com/office/drawing/2014/main" id="{92FDFDDB-4C34-96BB-7806-75A8B68C5C64}"/>
              </a:ext>
            </a:extLst>
          </p:cNvPr>
          <p:cNvSpPr/>
          <p:nvPr/>
        </p:nvSpPr>
        <p:spPr>
          <a:xfrm>
            <a:off x="29580840" y="20926570"/>
            <a:ext cx="2331720" cy="566928"/>
          </a:xfrm>
          <a:prstGeom prst="rect">
            <a:avLst/>
          </a:prstGeom>
          <a:solidFill>
            <a:srgbClr val="1B9E5A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67" name="Text 93">
            <a:extLst>
              <a:ext uri="{FF2B5EF4-FFF2-40B4-BE49-F238E27FC236}">
                <a16:creationId xmlns:a16="http://schemas.microsoft.com/office/drawing/2014/main" id="{F0F92E08-0876-CDE9-89C1-C664C4FD041A}"/>
              </a:ext>
            </a:extLst>
          </p:cNvPr>
          <p:cNvSpPr/>
          <p:nvPr/>
        </p:nvSpPr>
        <p:spPr>
          <a:xfrm>
            <a:off x="29580840" y="2092657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Q-GQA-4</a:t>
            </a:r>
            <a:endParaRPr lang="en-US" sz="2800" dirty="0"/>
          </a:p>
        </p:txBody>
      </p:sp>
      <p:sp>
        <p:nvSpPr>
          <p:cNvPr id="68" name="Text 94">
            <a:extLst>
              <a:ext uri="{FF2B5EF4-FFF2-40B4-BE49-F238E27FC236}">
                <a16:creationId xmlns:a16="http://schemas.microsoft.com/office/drawing/2014/main" id="{0ED0E89B-C5D7-73B5-71D6-28ADF0F7D358}"/>
              </a:ext>
            </a:extLst>
          </p:cNvPr>
          <p:cNvSpPr/>
          <p:nvPr/>
        </p:nvSpPr>
        <p:spPr>
          <a:xfrm>
            <a:off x="32049720" y="20615674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9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87.5%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↓</a:t>
            </a:r>
            <a:endParaRPr lang="en-US" sz="2800" dirty="0"/>
          </a:p>
        </p:txBody>
      </p:sp>
      <p:sp>
        <p:nvSpPr>
          <p:cNvPr id="69" name="Shape 95">
            <a:extLst>
              <a:ext uri="{FF2B5EF4-FFF2-40B4-BE49-F238E27FC236}">
                <a16:creationId xmlns:a16="http://schemas.microsoft.com/office/drawing/2014/main" id="{217584C6-2DAF-1664-67F2-14A6DC62C133}"/>
              </a:ext>
            </a:extLst>
          </p:cNvPr>
          <p:cNvSpPr/>
          <p:nvPr/>
        </p:nvSpPr>
        <p:spPr>
          <a:xfrm>
            <a:off x="23713440" y="22005562"/>
            <a:ext cx="10119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E6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70" name="Shape 96">
            <a:extLst>
              <a:ext uri="{FF2B5EF4-FFF2-40B4-BE49-F238E27FC236}">
                <a16:creationId xmlns:a16="http://schemas.microsoft.com/office/drawing/2014/main" id="{FEC971AF-B937-FFED-2728-0B53FF50CE16}"/>
              </a:ext>
            </a:extLst>
          </p:cNvPr>
          <p:cNvSpPr/>
          <p:nvPr/>
        </p:nvSpPr>
        <p:spPr>
          <a:xfrm>
            <a:off x="23942040" y="22298170"/>
            <a:ext cx="603504" cy="60350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 sz="2800"/>
          </a:p>
        </p:txBody>
      </p:sp>
      <p:pic>
        <p:nvPicPr>
          <p:cNvPr id="71" name="Image 11" descr="preencoded.png">
            <a:extLst>
              <a:ext uri="{FF2B5EF4-FFF2-40B4-BE49-F238E27FC236}">
                <a16:creationId xmlns:a16="http://schemas.microsoft.com/office/drawing/2014/main" id="{DCC0B2AE-A450-8ADD-85F2-0A906284AB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079200" y="22435330"/>
            <a:ext cx="329184" cy="329184"/>
          </a:xfrm>
          <a:prstGeom prst="rect">
            <a:avLst/>
          </a:prstGeom>
        </p:spPr>
      </p:pic>
      <p:sp>
        <p:nvSpPr>
          <p:cNvPr id="72" name="Text 97">
            <a:extLst>
              <a:ext uri="{FF2B5EF4-FFF2-40B4-BE49-F238E27FC236}">
                <a16:creationId xmlns:a16="http://schemas.microsoft.com/office/drawing/2014/main" id="{05A79EE7-8427-871E-E085-0D3319E7BB72}"/>
              </a:ext>
            </a:extLst>
          </p:cNvPr>
          <p:cNvSpPr/>
          <p:nvPr/>
        </p:nvSpPr>
        <p:spPr>
          <a:xfrm>
            <a:off x="24719280" y="22005562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/ Mobile</a:t>
            </a:r>
            <a:endParaRPr lang="en-US" sz="2800" dirty="0"/>
          </a:p>
        </p:txBody>
      </p:sp>
      <p:sp>
        <p:nvSpPr>
          <p:cNvPr id="73" name="Shape 98">
            <a:extLst>
              <a:ext uri="{FF2B5EF4-FFF2-40B4-BE49-F238E27FC236}">
                <a16:creationId xmlns:a16="http://schemas.microsoft.com/office/drawing/2014/main" id="{EABE19CC-E1CD-8CD1-C89C-03921EE81062}"/>
              </a:ext>
            </a:extLst>
          </p:cNvPr>
          <p:cNvSpPr/>
          <p:nvPr/>
        </p:nvSpPr>
        <p:spPr>
          <a:xfrm>
            <a:off x="29580840" y="22316458"/>
            <a:ext cx="2331720" cy="56692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74" name="Text 99">
            <a:extLst>
              <a:ext uri="{FF2B5EF4-FFF2-40B4-BE49-F238E27FC236}">
                <a16:creationId xmlns:a16="http://schemas.microsoft.com/office/drawing/2014/main" id="{3BF380E9-F2E0-4742-B83E-4FB2CB2CFB9F}"/>
              </a:ext>
            </a:extLst>
          </p:cNvPr>
          <p:cNvSpPr/>
          <p:nvPr/>
        </p:nvSpPr>
        <p:spPr>
          <a:xfrm>
            <a:off x="29580840" y="2231645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Q-MQA</a:t>
            </a:r>
            <a:endParaRPr lang="en-US" sz="2800" dirty="0"/>
          </a:p>
        </p:txBody>
      </p:sp>
      <p:sp>
        <p:nvSpPr>
          <p:cNvPr id="75" name="Text 100">
            <a:extLst>
              <a:ext uri="{FF2B5EF4-FFF2-40B4-BE49-F238E27FC236}">
                <a16:creationId xmlns:a16="http://schemas.microsoft.com/office/drawing/2014/main" id="{B15EB75D-84BD-1572-8537-57A8E648ED09}"/>
              </a:ext>
            </a:extLst>
          </p:cNvPr>
          <p:cNvSpPr/>
          <p:nvPr/>
        </p:nvSpPr>
        <p:spPr>
          <a:xfrm>
            <a:off x="32049720" y="22005562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96.9%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↓</a:t>
            </a:r>
            <a:endParaRPr lang="en-US" sz="2800" dirty="0"/>
          </a:p>
        </p:txBody>
      </p:sp>
      <p:sp>
        <p:nvSpPr>
          <p:cNvPr id="76" name="Shape 101">
            <a:extLst>
              <a:ext uri="{FF2B5EF4-FFF2-40B4-BE49-F238E27FC236}">
                <a16:creationId xmlns:a16="http://schemas.microsoft.com/office/drawing/2014/main" id="{1A73B901-E6FB-4B9E-A60B-1DB8E42462D3}"/>
              </a:ext>
            </a:extLst>
          </p:cNvPr>
          <p:cNvSpPr/>
          <p:nvPr/>
        </p:nvSpPr>
        <p:spPr>
          <a:xfrm>
            <a:off x="23713440" y="23441169"/>
            <a:ext cx="10119360" cy="2619231"/>
          </a:xfrm>
          <a:prstGeom prst="rect">
            <a:avLst/>
          </a:prstGeom>
          <a:solidFill>
            <a:srgbClr val="333399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77" name="Text 102">
            <a:extLst>
              <a:ext uri="{FF2B5EF4-FFF2-40B4-BE49-F238E27FC236}">
                <a16:creationId xmlns:a16="http://schemas.microsoft.com/office/drawing/2014/main" id="{A840577C-DD4F-BDEE-0305-F9234E9FB81E}"/>
              </a:ext>
            </a:extLst>
          </p:cNvPr>
          <p:cNvSpPr/>
          <p:nvPr/>
        </p:nvSpPr>
        <p:spPr>
          <a:xfrm>
            <a:off x="23942040" y="23715490"/>
            <a:ext cx="966216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BBE0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Perplexity ≠ capability.  </a:t>
            </a:r>
            <a:r>
              <a:rPr lang="en-US" sz="2800" dirty="0">
                <a:solidFill>
                  <a:srgbClr val="E5E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1.2B, Q-K=V trails QKV by 2.48% perplexity but only </a:t>
            </a: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0.41% downstream accuracy</a:t>
            </a:r>
            <a:r>
              <a:rPr lang="en-US" sz="2800" dirty="0">
                <a:solidFill>
                  <a:srgbClr val="E5E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while halving the KV cache. Up to 67× cache reduction with Q-MQA enables practical billion-parameter edge inference.</a:t>
            </a:r>
            <a:endParaRPr lang="en-US" sz="2800" dirty="0"/>
          </a:p>
        </p:txBody>
      </p:sp>
      <p:pic>
        <p:nvPicPr>
          <p:cNvPr id="79" name="Image 2" descr="/home/claude/qkv_project/images/qkv__1_.jpg">
            <a:extLst>
              <a:ext uri="{FF2B5EF4-FFF2-40B4-BE49-F238E27FC236}">
                <a16:creationId xmlns:a16="http://schemas.microsoft.com/office/drawing/2014/main" id="{665FCA9D-0E2F-9207-732B-733C3C12545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3770" y="15567908"/>
            <a:ext cx="11209816" cy="3999655"/>
          </a:xfrm>
          <a:prstGeom prst="rect">
            <a:avLst/>
          </a:prstGeom>
        </p:spPr>
      </p:pic>
      <p:sp>
        <p:nvSpPr>
          <p:cNvPr id="80" name="Text 25">
            <a:extLst>
              <a:ext uri="{FF2B5EF4-FFF2-40B4-BE49-F238E27FC236}">
                <a16:creationId xmlns:a16="http://schemas.microsoft.com/office/drawing/2014/main" id="{CB3CABE5-F69B-63E6-EA5D-EF0CA33529F5}"/>
              </a:ext>
            </a:extLst>
          </p:cNvPr>
          <p:cNvSpPr/>
          <p:nvPr/>
        </p:nvSpPr>
        <p:spPr>
          <a:xfrm>
            <a:off x="779215" y="20063602"/>
            <a:ext cx="1011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2800" i="1" dirty="0">
                <a:solidFill>
                  <a:srgbClr val="3F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Fig: Attention variants — same core mechanism, only the tied projections change.</a:t>
            </a:r>
            <a:endParaRPr lang="en-US" sz="2800" dirty="0"/>
          </a:p>
        </p:txBody>
      </p:sp>
      <p:sp>
        <p:nvSpPr>
          <p:cNvPr id="81" name="Shape 26">
            <a:extLst>
              <a:ext uri="{FF2B5EF4-FFF2-40B4-BE49-F238E27FC236}">
                <a16:creationId xmlns:a16="http://schemas.microsoft.com/office/drawing/2014/main" id="{E208D6AB-DF41-86CD-07B2-EFB4C0180F87}"/>
              </a:ext>
            </a:extLst>
          </p:cNvPr>
          <p:cNvSpPr/>
          <p:nvPr/>
        </p:nvSpPr>
        <p:spPr>
          <a:xfrm>
            <a:off x="779215" y="20932282"/>
            <a:ext cx="10119360" cy="2730379"/>
          </a:xfrm>
          <a:prstGeom prst="rect">
            <a:avLst/>
          </a:prstGeom>
          <a:solidFill>
            <a:srgbClr val="EEF2FA"/>
          </a:solidFill>
          <a:ln w="12700">
            <a:solidFill>
              <a:srgbClr val="C9D3E6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82" name="Text 27">
            <a:extLst>
              <a:ext uri="{FF2B5EF4-FFF2-40B4-BE49-F238E27FC236}">
                <a16:creationId xmlns:a16="http://schemas.microsoft.com/office/drawing/2014/main" id="{54F6B7E8-85A4-4984-8AF7-322F09AEF139}"/>
              </a:ext>
            </a:extLst>
          </p:cNvPr>
          <p:cNvSpPr/>
          <p:nvPr/>
        </p:nvSpPr>
        <p:spPr>
          <a:xfrm>
            <a:off x="1007815" y="21206602"/>
            <a:ext cx="10047024" cy="3155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 cost drops 33%:  </a:t>
            </a:r>
            <a:r>
              <a:rPr lang="en-US" sz="2800" dirty="0">
                <a:solidFill>
                  <a:srgbClr val="3F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QKV 3nd²  →  2nd²  →  nd²</a:t>
            </a:r>
            <a:endParaRPr lang="en-US" sz="2800" dirty="0"/>
          </a:p>
          <a:p>
            <a:pPr marL="0" indent="0" algn="l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(X)⁺ variants</a:t>
            </a:r>
            <a:r>
              <a:rPr lang="en-US" sz="2800" dirty="0">
                <a:solidFill>
                  <a:srgbClr val="3F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add a fixed 2D positional encoding to restore directional asymmetry on non-causal tasks (vision, synthetic).</a:t>
            </a:r>
            <a:endParaRPr lang="en-US" sz="2800" dirty="0"/>
          </a:p>
        </p:txBody>
      </p:sp>
      <p:sp>
        <p:nvSpPr>
          <p:cNvPr id="83" name="Shape 47">
            <a:extLst>
              <a:ext uri="{FF2B5EF4-FFF2-40B4-BE49-F238E27FC236}">
                <a16:creationId xmlns:a16="http://schemas.microsoft.com/office/drawing/2014/main" id="{B5B5BC52-D006-2420-DBB6-C15D69EE1760}"/>
              </a:ext>
            </a:extLst>
          </p:cNvPr>
          <p:cNvSpPr/>
          <p:nvPr/>
        </p:nvSpPr>
        <p:spPr>
          <a:xfrm>
            <a:off x="11544875" y="15508224"/>
            <a:ext cx="11549716" cy="2339535"/>
          </a:xfrm>
          <a:prstGeom prst="rect">
            <a:avLst/>
          </a:prstGeom>
          <a:solidFill>
            <a:srgbClr val="F1FAF4"/>
          </a:solidFill>
          <a:ln w="15875">
            <a:solidFill>
              <a:srgbClr val="1B9E5A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pic>
        <p:nvPicPr>
          <p:cNvPr id="84" name="Image 4" descr="preencoded.png">
            <a:extLst>
              <a:ext uri="{FF2B5EF4-FFF2-40B4-BE49-F238E27FC236}">
                <a16:creationId xmlns:a16="http://schemas.microsoft.com/office/drawing/2014/main" id="{99106746-0D93-A0B7-B224-E8DB8E76A55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773474" y="15691104"/>
            <a:ext cx="574007" cy="502920"/>
          </a:xfrm>
          <a:prstGeom prst="rect">
            <a:avLst/>
          </a:prstGeom>
        </p:spPr>
      </p:pic>
      <p:sp>
        <p:nvSpPr>
          <p:cNvPr id="85" name="Text 48">
            <a:extLst>
              <a:ext uri="{FF2B5EF4-FFF2-40B4-BE49-F238E27FC236}">
                <a16:creationId xmlns:a16="http://schemas.microsoft.com/office/drawing/2014/main" id="{73147D3F-FF3D-1E19-8A7A-4107C39B110C}"/>
              </a:ext>
            </a:extLst>
          </p:cNvPr>
          <p:cNvSpPr/>
          <p:nvPr/>
        </p:nvSpPr>
        <p:spPr>
          <a:xfrm>
            <a:off x="12413555" y="15691104"/>
            <a:ext cx="104017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7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Q-K=V preserves quality</a:t>
            </a:r>
            <a:endParaRPr lang="en-US" sz="2800" dirty="0"/>
          </a:p>
        </p:txBody>
      </p:sp>
      <p:sp>
        <p:nvSpPr>
          <p:cNvPr id="86" name="Text 49">
            <a:extLst>
              <a:ext uri="{FF2B5EF4-FFF2-40B4-BE49-F238E27FC236}">
                <a16:creationId xmlns:a16="http://schemas.microsoft.com/office/drawing/2014/main" id="{E9C76D9B-E8CF-55A3-1825-CA8A9593A4C9}"/>
              </a:ext>
            </a:extLst>
          </p:cNvPr>
          <p:cNvSpPr/>
          <p:nvPr/>
        </p:nvSpPr>
        <p:spPr>
          <a:xfrm>
            <a:off x="11773474" y="16285464"/>
            <a:ext cx="11027891" cy="1562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800" dirty="0">
                <a:solidFill>
                  <a:srgbClr val="3F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 &amp; Values can share representational space while </a:t>
            </a:r>
            <a:r>
              <a:rPr lang="en-US" sz="2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QKᵀ stays asymmetric.</a:t>
            </a:r>
            <a:r>
              <a:rPr lang="en-US" sz="2800" dirty="0">
                <a:solidFill>
                  <a:srgbClr val="3F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Trained QKV models confirm it: cos(K,V)=0.73 with similar rank, while Q stays distinct (cos(Q,K)=0.42).</a:t>
            </a:r>
            <a:endParaRPr lang="en-US" sz="2800" dirty="0"/>
          </a:p>
        </p:txBody>
      </p:sp>
      <p:sp>
        <p:nvSpPr>
          <p:cNvPr id="87" name="Shape 50">
            <a:extLst>
              <a:ext uri="{FF2B5EF4-FFF2-40B4-BE49-F238E27FC236}">
                <a16:creationId xmlns:a16="http://schemas.microsoft.com/office/drawing/2014/main" id="{06E1634D-21C9-A137-3A48-1119102BB61D}"/>
              </a:ext>
            </a:extLst>
          </p:cNvPr>
          <p:cNvSpPr/>
          <p:nvPr/>
        </p:nvSpPr>
        <p:spPr>
          <a:xfrm>
            <a:off x="11508404" y="18053491"/>
            <a:ext cx="11549716" cy="2212848"/>
          </a:xfrm>
          <a:prstGeom prst="rect">
            <a:avLst/>
          </a:prstGeom>
          <a:solidFill>
            <a:srgbClr val="FDF2F2"/>
          </a:solidFill>
          <a:ln w="1587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pic>
        <p:nvPicPr>
          <p:cNvPr id="88" name="Image 5" descr="preencoded.png">
            <a:extLst>
              <a:ext uri="{FF2B5EF4-FFF2-40B4-BE49-F238E27FC236}">
                <a16:creationId xmlns:a16="http://schemas.microsoft.com/office/drawing/2014/main" id="{3B602794-8F25-0333-C7BE-7546A55056F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737003" y="18134121"/>
            <a:ext cx="574007" cy="502920"/>
          </a:xfrm>
          <a:prstGeom prst="rect">
            <a:avLst/>
          </a:prstGeom>
        </p:spPr>
      </p:pic>
      <p:sp>
        <p:nvSpPr>
          <p:cNvPr id="89" name="Text 51">
            <a:extLst>
              <a:ext uri="{FF2B5EF4-FFF2-40B4-BE49-F238E27FC236}">
                <a16:creationId xmlns:a16="http://schemas.microsoft.com/office/drawing/2014/main" id="{6B1449DF-82F2-889B-82F1-9564EAECE6AD}"/>
              </a:ext>
            </a:extLst>
          </p:cNvPr>
          <p:cNvSpPr/>
          <p:nvPr/>
        </p:nvSpPr>
        <p:spPr>
          <a:xfrm>
            <a:off x="12377084" y="18134121"/>
            <a:ext cx="104017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Q=K-V breaks directionality</a:t>
            </a:r>
            <a:endParaRPr lang="en-US" sz="2800" dirty="0"/>
          </a:p>
        </p:txBody>
      </p:sp>
      <p:sp>
        <p:nvSpPr>
          <p:cNvPr id="90" name="Text 52">
            <a:extLst>
              <a:ext uri="{FF2B5EF4-FFF2-40B4-BE49-F238E27FC236}">
                <a16:creationId xmlns:a16="http://schemas.microsoft.com/office/drawing/2014/main" id="{474DA1EA-720D-1676-2BC7-BCBC4F6E9302}"/>
              </a:ext>
            </a:extLst>
          </p:cNvPr>
          <p:cNvSpPr/>
          <p:nvPr/>
        </p:nvSpPr>
        <p:spPr>
          <a:xfrm>
            <a:off x="11737003" y="18728481"/>
            <a:ext cx="11027891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800" dirty="0">
                <a:solidFill>
                  <a:srgbClr val="3F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Forcing Q = K makes the attention map </a:t>
            </a:r>
            <a:r>
              <a:rPr lang="en-US" sz="2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symmetric (KKᵀ)</a:t>
            </a:r>
            <a:r>
              <a:rPr lang="en-US" sz="2800" dirty="0">
                <a:solidFill>
                  <a:srgbClr val="3F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breaking the causal directionality language modeling needs: +4.9% perplexity with zero cache benefit. Q=K=V inherits both flaws.</a:t>
            </a:r>
            <a:endParaRPr lang="en-US" sz="2800" dirty="0"/>
          </a:p>
        </p:txBody>
      </p:sp>
      <p:sp>
        <p:nvSpPr>
          <p:cNvPr id="93" name="Text 54">
            <a:extLst>
              <a:ext uri="{FF2B5EF4-FFF2-40B4-BE49-F238E27FC236}">
                <a16:creationId xmlns:a16="http://schemas.microsoft.com/office/drawing/2014/main" id="{7A24C8D6-C231-BD38-08D6-F990FF1C0877}"/>
              </a:ext>
            </a:extLst>
          </p:cNvPr>
          <p:cNvSpPr/>
          <p:nvPr/>
        </p:nvSpPr>
        <p:spPr>
          <a:xfrm>
            <a:off x="12085320" y="21387816"/>
            <a:ext cx="10576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300" dirty="0"/>
          </a:p>
        </p:txBody>
      </p:sp>
      <p:sp>
        <p:nvSpPr>
          <p:cNvPr id="95" name="Shape 56">
            <a:extLst>
              <a:ext uri="{FF2B5EF4-FFF2-40B4-BE49-F238E27FC236}">
                <a16:creationId xmlns:a16="http://schemas.microsoft.com/office/drawing/2014/main" id="{1474852B-E090-26ED-8C68-D03F03147F92}"/>
              </a:ext>
            </a:extLst>
          </p:cNvPr>
          <p:cNvSpPr/>
          <p:nvPr/>
        </p:nvSpPr>
        <p:spPr>
          <a:xfrm>
            <a:off x="11727755" y="21625134"/>
            <a:ext cx="530352" cy="530352"/>
          </a:xfrm>
          <a:prstGeom prst="ellipse">
            <a:avLst/>
          </a:prstGeom>
          <a:solidFill>
            <a:srgbClr val="333399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96" name="Text 57">
            <a:extLst>
              <a:ext uri="{FF2B5EF4-FFF2-40B4-BE49-F238E27FC236}">
                <a16:creationId xmlns:a16="http://schemas.microsoft.com/office/drawing/2014/main" id="{4E493DC8-5FF3-E44F-3ED2-250809237BDD}"/>
              </a:ext>
            </a:extLst>
          </p:cNvPr>
          <p:cNvSpPr/>
          <p:nvPr/>
        </p:nvSpPr>
        <p:spPr>
          <a:xfrm>
            <a:off x="11727755" y="2162513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97" name="Text 58">
            <a:extLst>
              <a:ext uri="{FF2B5EF4-FFF2-40B4-BE49-F238E27FC236}">
                <a16:creationId xmlns:a16="http://schemas.microsoft.com/office/drawing/2014/main" id="{F62E9054-71F1-22C2-0D6B-B6416A42D2EB}"/>
              </a:ext>
            </a:extLst>
          </p:cNvPr>
          <p:cNvSpPr/>
          <p:nvPr/>
        </p:nvSpPr>
        <p:spPr>
          <a:xfrm>
            <a:off x="12413555" y="21551982"/>
            <a:ext cx="929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V is enough</a:t>
            </a:r>
            <a:endParaRPr lang="en-US" sz="2800" dirty="0"/>
          </a:p>
        </p:txBody>
      </p:sp>
      <p:sp>
        <p:nvSpPr>
          <p:cNvPr id="98" name="Text 59">
            <a:extLst>
              <a:ext uri="{FF2B5EF4-FFF2-40B4-BE49-F238E27FC236}">
                <a16:creationId xmlns:a16="http://schemas.microsoft.com/office/drawing/2014/main" id="{2B442BAE-3C66-946A-04C4-484993B3984B}"/>
              </a:ext>
            </a:extLst>
          </p:cNvPr>
          <p:cNvSpPr/>
          <p:nvPr/>
        </p:nvSpPr>
        <p:spPr>
          <a:xfrm>
            <a:off x="12413555" y="22009182"/>
            <a:ext cx="107903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dirty="0">
                <a:solidFill>
                  <a:srgbClr val="3F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KV-cache cut at only +3.1% (300M) / +2.48% (1.2B) perplexity.</a:t>
            </a:r>
            <a:endParaRPr lang="en-US" sz="2800" dirty="0"/>
          </a:p>
        </p:txBody>
      </p:sp>
      <p:sp>
        <p:nvSpPr>
          <p:cNvPr id="99" name="Shape 60">
            <a:extLst>
              <a:ext uri="{FF2B5EF4-FFF2-40B4-BE49-F238E27FC236}">
                <a16:creationId xmlns:a16="http://schemas.microsoft.com/office/drawing/2014/main" id="{EEE2C4EC-435F-A981-3C20-88216E85F94F}"/>
              </a:ext>
            </a:extLst>
          </p:cNvPr>
          <p:cNvSpPr/>
          <p:nvPr/>
        </p:nvSpPr>
        <p:spPr>
          <a:xfrm>
            <a:off x="11727755" y="22640544"/>
            <a:ext cx="530352" cy="530352"/>
          </a:xfrm>
          <a:prstGeom prst="ellipse">
            <a:avLst/>
          </a:prstGeom>
          <a:solidFill>
            <a:srgbClr val="333399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00" name="Text 61">
            <a:extLst>
              <a:ext uri="{FF2B5EF4-FFF2-40B4-BE49-F238E27FC236}">
                <a16:creationId xmlns:a16="http://schemas.microsoft.com/office/drawing/2014/main" id="{800C7052-4B5D-8BF2-4E06-C759CCA9E0D8}"/>
              </a:ext>
            </a:extLst>
          </p:cNvPr>
          <p:cNvSpPr/>
          <p:nvPr/>
        </p:nvSpPr>
        <p:spPr>
          <a:xfrm>
            <a:off x="11727755" y="226405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01" name="Text 62">
            <a:extLst>
              <a:ext uri="{FF2B5EF4-FFF2-40B4-BE49-F238E27FC236}">
                <a16:creationId xmlns:a16="http://schemas.microsoft.com/office/drawing/2014/main" id="{94640E07-6CD1-97BB-D2EE-9DA2DBC1120A}"/>
              </a:ext>
            </a:extLst>
          </p:cNvPr>
          <p:cNvSpPr/>
          <p:nvPr/>
        </p:nvSpPr>
        <p:spPr>
          <a:xfrm>
            <a:off x="12413555" y="22631400"/>
            <a:ext cx="929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Asymmetry is what matters</a:t>
            </a:r>
            <a:endParaRPr lang="en-US" sz="2800" dirty="0"/>
          </a:p>
        </p:txBody>
      </p:sp>
      <p:sp>
        <p:nvSpPr>
          <p:cNvPr id="102" name="Text 63">
            <a:extLst>
              <a:ext uri="{FF2B5EF4-FFF2-40B4-BE49-F238E27FC236}">
                <a16:creationId xmlns:a16="http://schemas.microsoft.com/office/drawing/2014/main" id="{04A81875-E688-0440-34BB-D336B8D3C8A7}"/>
              </a:ext>
            </a:extLst>
          </p:cNvPr>
          <p:cNvSpPr/>
          <p:nvPr/>
        </p:nvSpPr>
        <p:spPr>
          <a:xfrm>
            <a:off x="12413555" y="23024592"/>
            <a:ext cx="107903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dirty="0">
                <a:solidFill>
                  <a:srgbClr val="3F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needs Q distinct from a shared K-V — not three projections.</a:t>
            </a:r>
            <a:endParaRPr lang="en-US" sz="2800" dirty="0"/>
          </a:p>
        </p:txBody>
      </p:sp>
      <p:sp>
        <p:nvSpPr>
          <p:cNvPr id="103" name="Shape 64">
            <a:extLst>
              <a:ext uri="{FF2B5EF4-FFF2-40B4-BE49-F238E27FC236}">
                <a16:creationId xmlns:a16="http://schemas.microsoft.com/office/drawing/2014/main" id="{F06CA550-715C-A88D-9FF3-0C5798F84C6F}"/>
              </a:ext>
            </a:extLst>
          </p:cNvPr>
          <p:cNvSpPr/>
          <p:nvPr/>
        </p:nvSpPr>
        <p:spPr>
          <a:xfrm>
            <a:off x="11727755" y="23622000"/>
            <a:ext cx="530352" cy="530352"/>
          </a:xfrm>
          <a:prstGeom prst="ellipse">
            <a:avLst/>
          </a:prstGeom>
          <a:solidFill>
            <a:srgbClr val="333399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04" name="Text 65">
            <a:extLst>
              <a:ext uri="{FF2B5EF4-FFF2-40B4-BE49-F238E27FC236}">
                <a16:creationId xmlns:a16="http://schemas.microsoft.com/office/drawing/2014/main" id="{0022D4C4-D263-6B45-C6B1-962D90C163A8}"/>
              </a:ext>
            </a:extLst>
          </p:cNvPr>
          <p:cNvSpPr/>
          <p:nvPr/>
        </p:nvSpPr>
        <p:spPr>
          <a:xfrm>
            <a:off x="11727755" y="236220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06" name="Text 66">
            <a:extLst>
              <a:ext uri="{FF2B5EF4-FFF2-40B4-BE49-F238E27FC236}">
                <a16:creationId xmlns:a16="http://schemas.microsoft.com/office/drawing/2014/main" id="{A3B98549-C3F6-6BB9-AF14-2632219434A6}"/>
              </a:ext>
            </a:extLst>
          </p:cNvPr>
          <p:cNvSpPr/>
          <p:nvPr/>
        </p:nvSpPr>
        <p:spPr>
          <a:xfrm>
            <a:off x="12413555" y="23625048"/>
            <a:ext cx="929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Orthogonal to head sharing</a:t>
            </a:r>
            <a:endParaRPr lang="en-US" sz="2800" dirty="0"/>
          </a:p>
        </p:txBody>
      </p:sp>
      <p:sp>
        <p:nvSpPr>
          <p:cNvPr id="107" name="Text 67">
            <a:extLst>
              <a:ext uri="{FF2B5EF4-FFF2-40B4-BE49-F238E27FC236}">
                <a16:creationId xmlns:a16="http://schemas.microsoft.com/office/drawing/2014/main" id="{D7A1C8D5-3CDD-5494-BCEB-ECD9702B7D86}"/>
              </a:ext>
            </a:extLst>
          </p:cNvPr>
          <p:cNvSpPr/>
          <p:nvPr/>
        </p:nvSpPr>
        <p:spPr>
          <a:xfrm>
            <a:off x="12413555" y="24006048"/>
            <a:ext cx="929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dirty="0">
                <a:solidFill>
                  <a:srgbClr val="3F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Stacks with GQA/MQA for up to 96.9% cache reduction.</a:t>
            </a:r>
            <a:endParaRPr lang="en-US" sz="2800" dirty="0"/>
          </a:p>
        </p:txBody>
      </p:sp>
      <p:sp>
        <p:nvSpPr>
          <p:cNvPr id="112" name="Text 31">
            <a:extLst>
              <a:ext uri="{FF2B5EF4-FFF2-40B4-BE49-F238E27FC236}">
                <a16:creationId xmlns:a16="http://schemas.microsoft.com/office/drawing/2014/main" id="{B1B2CE6D-0A22-F04A-FEF7-18BEBA677CF3}"/>
              </a:ext>
            </a:extLst>
          </p:cNvPr>
          <p:cNvSpPr/>
          <p:nvPr/>
        </p:nvSpPr>
        <p:spPr>
          <a:xfrm>
            <a:off x="11930760" y="4690389"/>
            <a:ext cx="1011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endParaRPr lang="en-US" sz="2800" dirty="0"/>
          </a:p>
        </p:txBody>
      </p:sp>
      <p:pic>
        <p:nvPicPr>
          <p:cNvPr id="113" name="Image 3" descr="/home/claude/qkv_project/images/fig_projection_sharing.png">
            <a:extLst>
              <a:ext uri="{FF2B5EF4-FFF2-40B4-BE49-F238E27FC236}">
                <a16:creationId xmlns:a16="http://schemas.microsoft.com/office/drawing/2014/main" id="{A7F0D1A2-E662-9BA5-36ED-5A43388FD54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885403" y="5201472"/>
            <a:ext cx="11072766" cy="4322904"/>
          </a:xfrm>
          <a:prstGeom prst="rect">
            <a:avLst/>
          </a:prstGeom>
        </p:spPr>
      </p:pic>
      <p:sp>
        <p:nvSpPr>
          <p:cNvPr id="114" name="Text 32">
            <a:extLst>
              <a:ext uri="{FF2B5EF4-FFF2-40B4-BE49-F238E27FC236}">
                <a16:creationId xmlns:a16="http://schemas.microsoft.com/office/drawing/2014/main" id="{41653676-95A6-DF16-E774-A64034DA4A38}"/>
              </a:ext>
            </a:extLst>
          </p:cNvPr>
          <p:cNvSpPr/>
          <p:nvPr/>
        </p:nvSpPr>
        <p:spPr>
          <a:xfrm>
            <a:off x="11930760" y="9619483"/>
            <a:ext cx="1011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Fig: Validation perplexity (left) and KV cache reduction (right).</a:t>
            </a:r>
            <a:endParaRPr lang="en-US" sz="2800" dirty="0"/>
          </a:p>
        </p:txBody>
      </p:sp>
      <p:sp>
        <p:nvSpPr>
          <p:cNvPr id="115" name="Shape 33">
            <a:extLst>
              <a:ext uri="{FF2B5EF4-FFF2-40B4-BE49-F238E27FC236}">
                <a16:creationId xmlns:a16="http://schemas.microsoft.com/office/drawing/2014/main" id="{5D92A2F8-FC43-F044-BF8C-93E53B1CD8F2}"/>
              </a:ext>
            </a:extLst>
          </p:cNvPr>
          <p:cNvSpPr/>
          <p:nvPr/>
        </p:nvSpPr>
        <p:spPr>
          <a:xfrm>
            <a:off x="12435840" y="10058395"/>
            <a:ext cx="3190240" cy="1481328"/>
          </a:xfrm>
          <a:prstGeom prst="rect">
            <a:avLst/>
          </a:prstGeom>
          <a:solidFill>
            <a:srgbClr val="EEF2FA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16" name="Text 34">
            <a:extLst>
              <a:ext uri="{FF2B5EF4-FFF2-40B4-BE49-F238E27FC236}">
                <a16:creationId xmlns:a16="http://schemas.microsoft.com/office/drawing/2014/main" id="{11D0256D-53BD-8DC5-4729-7D75C3BF946E}"/>
              </a:ext>
            </a:extLst>
          </p:cNvPr>
          <p:cNvSpPr/>
          <p:nvPr/>
        </p:nvSpPr>
        <p:spPr>
          <a:xfrm>
            <a:off x="12435840" y="10204699"/>
            <a:ext cx="319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+3.1%</a:t>
            </a:r>
            <a:endParaRPr lang="en-US" sz="2800" dirty="0"/>
          </a:p>
        </p:txBody>
      </p:sp>
      <p:sp>
        <p:nvSpPr>
          <p:cNvPr id="117" name="Text 35">
            <a:extLst>
              <a:ext uri="{FF2B5EF4-FFF2-40B4-BE49-F238E27FC236}">
                <a16:creationId xmlns:a16="http://schemas.microsoft.com/office/drawing/2014/main" id="{24CBFC59-A3F5-97D0-DB33-03A3B9FBFDC3}"/>
              </a:ext>
            </a:extLst>
          </p:cNvPr>
          <p:cNvSpPr/>
          <p:nvPr/>
        </p:nvSpPr>
        <p:spPr>
          <a:xfrm>
            <a:off x="12508992" y="10954507"/>
            <a:ext cx="304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perplexity cost</a:t>
            </a:r>
            <a:endParaRPr lang="en-US" sz="2800" dirty="0"/>
          </a:p>
        </p:txBody>
      </p:sp>
      <p:sp>
        <p:nvSpPr>
          <p:cNvPr id="118" name="Shape 36">
            <a:extLst>
              <a:ext uri="{FF2B5EF4-FFF2-40B4-BE49-F238E27FC236}">
                <a16:creationId xmlns:a16="http://schemas.microsoft.com/office/drawing/2014/main" id="{853E2E24-7AF8-E38F-1E9C-92F87FAA0EB9}"/>
              </a:ext>
            </a:extLst>
          </p:cNvPr>
          <p:cNvSpPr/>
          <p:nvPr/>
        </p:nvSpPr>
        <p:spPr>
          <a:xfrm>
            <a:off x="15900400" y="10058395"/>
            <a:ext cx="3190240" cy="1481328"/>
          </a:xfrm>
          <a:prstGeom prst="rect">
            <a:avLst/>
          </a:prstGeom>
          <a:solidFill>
            <a:srgbClr val="EEF2FA"/>
          </a:solidFill>
          <a:ln w="19050">
            <a:solidFill>
              <a:srgbClr val="1B9E5A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19" name="Text 37">
            <a:extLst>
              <a:ext uri="{FF2B5EF4-FFF2-40B4-BE49-F238E27FC236}">
                <a16:creationId xmlns:a16="http://schemas.microsoft.com/office/drawing/2014/main" id="{D0BD5E84-9847-D53F-4BB2-8E099C9ADC25}"/>
              </a:ext>
            </a:extLst>
          </p:cNvPr>
          <p:cNvSpPr/>
          <p:nvPr/>
        </p:nvSpPr>
        <p:spPr>
          <a:xfrm>
            <a:off x="15900400" y="10204699"/>
            <a:ext cx="319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800" dirty="0"/>
          </a:p>
        </p:txBody>
      </p:sp>
      <p:sp>
        <p:nvSpPr>
          <p:cNvPr id="120" name="Text 38">
            <a:extLst>
              <a:ext uri="{FF2B5EF4-FFF2-40B4-BE49-F238E27FC236}">
                <a16:creationId xmlns:a16="http://schemas.microsoft.com/office/drawing/2014/main" id="{E287BC3F-66F5-8112-96C9-4D9B0B3DF434}"/>
              </a:ext>
            </a:extLst>
          </p:cNvPr>
          <p:cNvSpPr/>
          <p:nvPr/>
        </p:nvSpPr>
        <p:spPr>
          <a:xfrm>
            <a:off x="15973552" y="10954507"/>
            <a:ext cx="304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cache reduction</a:t>
            </a:r>
            <a:endParaRPr lang="en-US" sz="2800" dirty="0"/>
          </a:p>
        </p:txBody>
      </p:sp>
      <p:sp>
        <p:nvSpPr>
          <p:cNvPr id="121" name="Shape 39">
            <a:extLst>
              <a:ext uri="{FF2B5EF4-FFF2-40B4-BE49-F238E27FC236}">
                <a16:creationId xmlns:a16="http://schemas.microsoft.com/office/drawing/2014/main" id="{16355A25-1749-20A2-D93D-8D10B821CB85}"/>
              </a:ext>
            </a:extLst>
          </p:cNvPr>
          <p:cNvSpPr/>
          <p:nvPr/>
        </p:nvSpPr>
        <p:spPr>
          <a:xfrm>
            <a:off x="19364960" y="10058395"/>
            <a:ext cx="3190240" cy="1481328"/>
          </a:xfrm>
          <a:prstGeom prst="rect">
            <a:avLst/>
          </a:prstGeom>
          <a:solidFill>
            <a:srgbClr val="EEF2FA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22" name="Text 40">
            <a:extLst>
              <a:ext uri="{FF2B5EF4-FFF2-40B4-BE49-F238E27FC236}">
                <a16:creationId xmlns:a16="http://schemas.microsoft.com/office/drawing/2014/main" id="{69352E72-8495-CE76-A104-D67D42310787}"/>
              </a:ext>
            </a:extLst>
          </p:cNvPr>
          <p:cNvSpPr/>
          <p:nvPr/>
        </p:nvSpPr>
        <p:spPr>
          <a:xfrm>
            <a:off x="19364960" y="10204699"/>
            <a:ext cx="319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+25.4%</a:t>
            </a:r>
            <a:endParaRPr lang="en-US" sz="2800" dirty="0"/>
          </a:p>
        </p:txBody>
      </p:sp>
      <p:sp>
        <p:nvSpPr>
          <p:cNvPr id="123" name="Text 41">
            <a:extLst>
              <a:ext uri="{FF2B5EF4-FFF2-40B4-BE49-F238E27FC236}">
                <a16:creationId xmlns:a16="http://schemas.microsoft.com/office/drawing/2014/main" id="{4586B904-4F3A-76CC-6468-3177D34B4F1B}"/>
              </a:ext>
            </a:extLst>
          </p:cNvPr>
          <p:cNvSpPr/>
          <p:nvPr/>
        </p:nvSpPr>
        <p:spPr>
          <a:xfrm>
            <a:off x="19438112" y="10954507"/>
            <a:ext cx="304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Q=K=V collapses</a:t>
            </a:r>
            <a:endParaRPr lang="en-US" sz="2800" dirty="0"/>
          </a:p>
        </p:txBody>
      </p:sp>
      <p:sp>
        <p:nvSpPr>
          <p:cNvPr id="124" name="Shape 42">
            <a:extLst>
              <a:ext uri="{FF2B5EF4-FFF2-40B4-BE49-F238E27FC236}">
                <a16:creationId xmlns:a16="http://schemas.microsoft.com/office/drawing/2014/main" id="{D14CED02-60A8-3946-B2B4-E7421E7AEAFA}"/>
              </a:ext>
            </a:extLst>
          </p:cNvPr>
          <p:cNvSpPr/>
          <p:nvPr/>
        </p:nvSpPr>
        <p:spPr>
          <a:xfrm>
            <a:off x="11930759" y="11722603"/>
            <a:ext cx="11163831" cy="1910618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25" name="Text 43">
            <a:extLst>
              <a:ext uri="{FF2B5EF4-FFF2-40B4-BE49-F238E27FC236}">
                <a16:creationId xmlns:a16="http://schemas.microsoft.com/office/drawing/2014/main" id="{3B420214-F95D-6FC9-8D43-B15317CDB523}"/>
              </a:ext>
            </a:extLst>
          </p:cNvPr>
          <p:cNvSpPr/>
          <p:nvPr/>
        </p:nvSpPr>
        <p:spPr>
          <a:xfrm>
            <a:off x="12159359" y="11923771"/>
            <a:ext cx="10642005" cy="1563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8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Setup   </a:t>
            </a:r>
            <a:r>
              <a:rPr lang="en-US" sz="2800" dirty="0">
                <a:latin typeface="Arial" pitchFamily="34" charset="0"/>
                <a:ea typeface="Arial" pitchFamily="34" charset="-122"/>
                <a:cs typeface="Arial" pitchFamily="34" charset="-120"/>
              </a:rPr>
              <a:t>20 layers · d = 1024 · 16 heads · AdamW · bf16 on 8×A100</a:t>
            </a:r>
            <a:endParaRPr lang="en-US" sz="2800" dirty="0"/>
          </a:p>
          <a:p>
            <a:pPr marL="0" indent="0" algn="l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28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Results (val perplexity)   </a:t>
            </a:r>
            <a:r>
              <a:rPr lang="en-US" sz="2800" dirty="0">
                <a:latin typeface="Arial" pitchFamily="34" charset="0"/>
                <a:ea typeface="Arial" pitchFamily="34" charset="-122"/>
                <a:cs typeface="Arial" pitchFamily="34" charset="-120"/>
              </a:rPr>
              <a:t>QKV 5.11  ·  Q-K=V 5.27 (+3.1%)  ·  Q=K-V 5.36 (+4.9%, no cache benefit)</a:t>
            </a:r>
            <a:endParaRPr lang="en-US" sz="2800" dirty="0"/>
          </a:p>
        </p:txBody>
      </p:sp>
      <p:sp>
        <p:nvSpPr>
          <p:cNvPr id="126" name="Text 71">
            <a:extLst>
              <a:ext uri="{FF2B5EF4-FFF2-40B4-BE49-F238E27FC236}">
                <a16:creationId xmlns:a16="http://schemas.microsoft.com/office/drawing/2014/main" id="{893E9560-CA73-CC26-0DE3-B768AE944E5E}"/>
              </a:ext>
            </a:extLst>
          </p:cNvPr>
          <p:cNvSpPr/>
          <p:nvPr/>
        </p:nvSpPr>
        <p:spPr>
          <a:xfrm>
            <a:off x="25069800" y="3858768"/>
            <a:ext cx="9372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800" dirty="0">
                <a:latin typeface="Arial" pitchFamily="34" charset="0"/>
                <a:ea typeface="Arial" pitchFamily="34" charset="-122"/>
                <a:cs typeface="Arial" pitchFamily="34" charset="-120"/>
              </a:rPr>
              <a:t>Projection sharing (K = V) is orthogonal to head sharing (GQA / MQA) — the two stack multiplicatively.</a:t>
            </a:r>
            <a:endParaRPr lang="en-US" sz="2800" dirty="0"/>
          </a:p>
        </p:txBody>
      </p:sp>
      <p:pic>
        <p:nvPicPr>
          <p:cNvPr id="127" name="Image 6" descr="/home/claude/qkv_project/images/fig_head_sharing_combined.png">
            <a:extLst>
              <a:ext uri="{FF2B5EF4-FFF2-40B4-BE49-F238E27FC236}">
                <a16:creationId xmlns:a16="http://schemas.microsoft.com/office/drawing/2014/main" id="{4F37FC88-8874-7246-9189-5B482CD44B3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323040" y="4910328"/>
            <a:ext cx="10119360" cy="3568618"/>
          </a:xfrm>
          <a:prstGeom prst="rect">
            <a:avLst/>
          </a:prstGeom>
        </p:spPr>
      </p:pic>
      <p:sp>
        <p:nvSpPr>
          <p:cNvPr id="4096" name="Text 72">
            <a:extLst>
              <a:ext uri="{FF2B5EF4-FFF2-40B4-BE49-F238E27FC236}">
                <a16:creationId xmlns:a16="http://schemas.microsoft.com/office/drawing/2014/main" id="{A2DAF8D1-7E08-E805-D024-D95AA640ED47}"/>
              </a:ext>
            </a:extLst>
          </p:cNvPr>
          <p:cNvSpPr/>
          <p:nvPr/>
        </p:nvSpPr>
        <p:spPr>
          <a:xfrm>
            <a:off x="24145088" y="8693832"/>
            <a:ext cx="1011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Fig: Head sharing (orange) and combined projection+head sharing (green).</a:t>
            </a:r>
            <a:endParaRPr lang="en-US" sz="2800" dirty="0"/>
          </a:p>
        </p:txBody>
      </p:sp>
      <p:pic>
        <p:nvPicPr>
          <p:cNvPr id="4098" name="Image 7" descr="/home/claude/qkv_project/images/pareto_new.png">
            <a:extLst>
              <a:ext uri="{FF2B5EF4-FFF2-40B4-BE49-F238E27FC236}">
                <a16:creationId xmlns:a16="http://schemas.microsoft.com/office/drawing/2014/main" id="{7012D535-A44C-4DC9-87E8-52E638B70538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24399240" y="9331670"/>
            <a:ext cx="8747760" cy="6548589"/>
          </a:xfrm>
          <a:prstGeom prst="rect">
            <a:avLst/>
          </a:prstGeom>
        </p:spPr>
      </p:pic>
      <p:sp>
        <p:nvSpPr>
          <p:cNvPr id="4099" name="Text 73">
            <a:extLst>
              <a:ext uri="{FF2B5EF4-FFF2-40B4-BE49-F238E27FC236}">
                <a16:creationId xmlns:a16="http://schemas.microsoft.com/office/drawing/2014/main" id="{2118007A-1EC4-BE46-582B-9BD52E296B6A}"/>
              </a:ext>
            </a:extLst>
          </p:cNvPr>
          <p:cNvSpPr/>
          <p:nvPr/>
        </p:nvSpPr>
        <p:spPr>
          <a:xfrm>
            <a:off x="23738840" y="15910560"/>
            <a:ext cx="1011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8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Fig: Efficiency–quality Pareto frontier. Q-K=V fills the gap to head-sharing methods.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91815450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7623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7623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19641</TotalTime>
  <Words>602</Words>
  <Application>Microsoft Office PowerPoint</Application>
  <PresentationFormat>Custom</PresentationFormat>
  <Paragraphs>68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Consolas</vt:lpstr>
      <vt:lpstr>Default Design</vt:lpstr>
      <vt:lpstr>PowerPoint Presentation</vt:lpstr>
    </vt:vector>
  </TitlesOfParts>
  <Company>Georgia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Platform Technology for the Monolithic Integration of Semiconductor Optoelectronic Devices with</dc:title>
  <dc:creator>Ultrafast Optical Communications Lab</dc:creator>
  <cp:lastModifiedBy>Anusha Gopal</cp:lastModifiedBy>
  <cp:revision>504</cp:revision>
  <cp:lastPrinted>2023-07-26T22:46:17Z</cp:lastPrinted>
  <dcterms:created xsi:type="dcterms:W3CDTF">2004-10-04T21:31:45Z</dcterms:created>
  <dcterms:modified xsi:type="dcterms:W3CDTF">2026-05-30T23:19:07Z</dcterms:modified>
</cp:coreProperties>
</file>